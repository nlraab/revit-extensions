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Hours saved per project</c:v>
                </c:pt>
              </c:strCache>
            </c:strRef>
          </c:tx>
          <c:spPr>
            <a:solidFill>
              <a:srgbClr val="0D9488"/>
            </a:solidFill>
            <a:effectLst/>
          </c:spPr>
          <c:invertIfNegative val="0"/>
          <c:dLbls>
            <c:numFmt formatCode="0.0&quot;h&quot;" sourceLinked="0"/>
            <c:txPr>
              <a:bodyPr/>
              <a:lstStyle/>
              <a:p>
                <a:pPr>
                  <a:defRPr b="1" i="0" strike="noStrike" sz="1100" u="none">
                    <a:solidFill>
                      <a:srgbClr val="1E293B"/>
                    </a:solidFill>
                    <a:latin typeface="Arial"/>
                  </a:defRPr>
                </a:pPr>
              </a:p>
            </c:txPr>
            <c:showLegendKey val="0"/>
            <c:showVal val="1"/>
            <c:showCatName val="0"/>
            <c:showSerName val="0"/>
            <c:showPercent val="0"/>
            <c:showBubbleSize val="0"/>
            <c:showLeaderLines val="0"/>
          </c:dLbls>
          <c:cat>
            <c:multiLvlStrRef>
              <c:f>Sheet1!$A$2:$A$7</c:f>
              <c:multiLvlStrCache>
                <c:ptCount val="6"/>
                <c:lvl>
                  <c:pt idx="0">
                    <c:v>Sheet Setup</c:v>
                  </c:pt>
                  <c:pt idx="1">
                    <c:v>Align Views</c:v>
                  </c:pt>
                  <c:pt idx="2">
                    <c:v>Sheet Manager</c:v>
                  </c:pt>
                  <c:pt idx="3">
                    <c:v>Revisions Manager</c:v>
                  </c:pt>
                  <c:pt idx="4">
                    <c:v>View Range Helper</c:v>
                  </c:pt>
                  <c:pt idx="5">
                    <c:v>View Templates Manager</c:v>
                  </c:pt>
                </c:lvl>
              </c:multiLvlStrCache>
            </c:multiLvlStrRef>
          </c:cat>
          <c:val>
            <c:numRef>
              <c:f>Sheet1!$B$2:$B$7</c:f>
              <c:numCache>
                <c:formatCode>General</c:formatCode>
                <c:ptCount val="6"/>
                <c:pt idx="0">
                  <c:v>6</c:v>
                </c:pt>
                <c:pt idx="1">
                  <c:v>2</c:v>
                </c:pt>
                <c:pt idx="2">
                  <c:v>1.5</c:v>
                </c:pt>
                <c:pt idx="3">
                  <c:v>1</c:v>
                </c:pt>
                <c:pt idx="4">
                  <c:v>0.5</c:v>
                </c:pt>
                <c:pt idx="5">
                  <c:v>1</c:v>
                </c:pt>
              </c:numCache>
            </c:numRef>
          </c:val>
        </c:ser>
        <c:dLbls>
          <c:numFmt formatCode="0.0&quot;h&quot;" sourceLinked="0"/>
          <c:txPr>
            <a:bodyPr/>
            <a:lstStyle/>
            <a:p>
              <a:pPr>
                <a:defRPr b="1" i="0" strike="noStrike" sz="11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Calibri"/>
              </a:defRPr>
            </a:pPr>
            <a:endParaRPr lang="en-US"/>
          </a:p>
        </c:txPr>
        <c:crossAx val="2094734554"/>
        <c:crosses val="autoZero"/>
        <c:crossBetween val="between"/>
      </c:valAx>
      <c:spPr>
        <a:solidFill>
          <a:srgbClr val="F8FAFC"/>
        </a:solidFill>
        <a:ln>
          <a:noFill/>
        </a:ln>
        <a:effectLst/>
      </c:spPr>
    </c:plotArea>
    <c:plotVisOnly val="1"/>
    <c:dispBlanksAs val="span"/>
  </c:chart>
  <c:spPr>
    <a:solidFill>
      <a:srgbClr val="F8FAFC"/>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(60-90 sec). Don't read the title. Open with a story instead — say something like: 'Last project I caught myself nudging viewports for two hours on a Friday night so the sheets would line up. That weekend I built a tool. Now that job takes about 45 seconds.' Pause. Then say: today I'm going to walk you through six of those tools, what they do in plain English, and what they're worth in hours. ENGAGEMENT TIP: ask the room — 'How many hours a week do you think your engineers spend on tasks that aren't engineering?' Take two answers. Don't correct anyone. The number that comes back is the real point of this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(30-45 sec). Promise the audience three things: a tour, a why, and an ask. ENGAGEMENT: tell them they get to skip the structural-engineering jargon — everything in this deck is in dollars, hours, and risk. Don't dwell on this slide; it's a contract, not content.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(15 sec). Use a quick verbal handoff: 'Let's start with the tools themselves.' ENGAGEMENT: hold for a beat — give people time to mentally switch contexts. If you're feeling bold, ask the room to guess how many tools are coming. The number 'six' is small enough that it sounds doable, which is part of the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(60 sec). Don't walk through all six. Pick ONE the audience already knows the pain of — most leaders have heard their teams complain about sheet setup or revisions — and use that as the entry point. Say: 'I'm going to spend a slide on each. As I go, the thing to watch is not what the tool does — it's what the engineer is no longer doing.' ENGAGEMENT: tease the orange chip — 'the orange number is how many hours one of these saves on a typical project. We'll add them up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SHEET SETUP (90 sec). This is the headline tool. Frame it like this: 'A new project starts the same way every time — same disciplines, same plan types, same level list. We were paying senior people to do that scaffolding by hand.' ENGAGEMENT: ask 'how long do you think it takes to set up sheets for a 6-story building with three disciplines?' Wait. The honest answer is most of a day. Now show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ALIGN VIEWS (60 sec). The audience is non-technical, so don't explain viewports. Instead: 'When you flip through a set of drawings, your eye notices when the floor plan drifts half an inch from sheet to sheet. That's an hour of nudging — or one click.' ENGAGEMENT: hold up a printed sheet set if you have one. Tactile beats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SHEET MANAGER (60 sec). Pitch this one as 'project surgery.' Mid-project the client asks for a renumber, or the structural team adds a level — and suddenly you're touching every sheet. ENGAGEMENT: ask the project managers in the room when they last got that request. It's universal — get a laugh, then deliver the punchline: 'used to be a day, now it's a dialog.'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REVISIONS MANAGER (75 sec). This is the slide where business leaders perk up, because revisions are billable and visible to clients. Emphasize the 'find clouds' feature — that's the one that catches mistakes before the client does. ENGAGEMENT: tell a 30-second story about a missed revision cloud. Everyone has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VIEW RANGE HELPER (60 sec). The audience won't know what a view range is. Don't try to teach them. Say: 'Sometimes a plan view shows the wrong things — you see the ceiling when you wanted the floor. Fixing it used to mean typing numbers and praying. Now it's a slider.' ENGAGEMENT: this is a great place to do a 30-second live demo if the room can see your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VIEW TEMPLATES MANAGER (60 sec). Skip the term 'view template' — call them 'firm graphic standards.' Then: 'When we change a standard, we used to apply it to every template by hand. This makes it a checkbox.' ENGAGEMENT: tie it to brand consistency. Leaders care about how the firm's drawings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TIME-SAVED SUMMARY (60-90 sec). This is the slide they'll remember. Don't read the bars; point at the right side. 'Twelve hours per project. We finish how many projects a year? Multiply.' Let the audience do that math out loud — it lands harder when it's their number, not yours. ENGAGEMENT: be honest that these are estimates, not stopwatch timings. Trust matters more than precision here. Then add: 'and these are six tools — there could be sixty.'
TESTIMONIAL HOOK: if you have one engineer's quote, this is the slide to drop it on. Something like: '"Sheet Setup turned a Monday-morning chore into a coffee."' Names land harder than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(30 sec). Pause longer than feels comfortable. The audience just watched a string of capability slides; let them sit with the fact that none of this required hiring a developer. ENGAGEMENT: 'I'm a BIM technician, not a software engineer. Two years ago, this deck doesn't exist.' That single sentence reframes the rest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DEMOCRATIZATION (75 sec). This is where you make the shift from 'cool tools' to 'org change.' Frame it: the bottleneck used to be writing code. Now the bottleneck is knowing the work. That puts the firm's tool roadmap in the hands of the people who do the work. ENGAGEMENT: name a person — 'Imagine if every senior engineer here had this on their desk.' Personal, not abstract.
AVOID: don't oversell. Acknowledge that 'plain English to AI' is a skill — not magic. Stop short of saying 'no developers needed.' That's not true and the technical people in the room will catch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VELOCITY (45-60 sec). Don't dwell on the numbers — let them do the talking. ENGAGEMENT: this is a good place to slip in the cost. 'A consulting firm would have quoted this work in tens of thousands. Tokens cost less than coffee.' Land that without sounding smug — it's a fact about the technology, not a brag.
Watch the room: if someone looks skeptical, that's a real concern, not hostility. Use the next slide to address it head-on.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(15 sec). Brief beat. The audience has seen the demo and the why; now they want to know what to do. Promise them: 'I'm not pitching a tool. I'm pitching a strategy.' ENGAGEMENT: ask them to listen for the one recommendation they think they could approve this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OPPORTUNITY (75 sec). The order matters: operational, organizational, strategic. Walk down the page and let each pillar build on the previous. ENGAGEMENT: stop on pillar three. Ask the room to think for a beat about what their team would do with five extra hours a week. Don't take answers — let it be a private prompt. That moment of imagining is the slide.
WATCH OUT: don't promise headcount reductions. This is hours redirected, not jobs eliminated. Leadership audiences read between the lines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(60-90 sec). Be honest. The audience trusts you more for naming the downsides. Tie each risk to a phrase leaders already use — tool anarchy = 'shadow IT,' black-box code = 'key-person risk,' hallucinations = 'professional liability.' ENGAGEMENT: ask the legal/risk lead in the room (if there is one) — 'does this match what you've been thinking about?' That gets buy-in for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RECOMMENDATIONS (90-120 sec). This is the ask. Read the column headers, not the bullets — the audience can read. Use the time to commit to one specific thing this quarter (suggest the one that needs the lightest sign-off — usually 'fund tokens and training'). ENGAGEMENT: end with a direct ask: 'I'd like a decision on the near-term column by next month. The forward-looking column is a working group I'd like to help start.' Naming a deadline turns a presentation into a meeting that has follow-up.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4206240"/>
            <a:ext cx="9144000" cy="45720"/>
          </a:xfrm>
          <a:prstGeom prst="rect">
            <a:avLst/>
          </a:prstGeom>
          <a:solidFill>
            <a:srgbClr val="0D9488"/>
          </a:solidFill>
          <a:ln w="12700">
            <a:solidFill>
              <a:srgbClr val="0D9488"/>
            </a:solidFill>
            <a:prstDash val="solid"/>
          </a:ln>
        </p:spPr>
      </p:sp>
      <p:sp>
        <p:nvSpPr>
          <p:cNvPr id="3" name="Shape 1"/>
          <p:cNvSpPr/>
          <p:nvPr/>
        </p:nvSpPr>
        <p:spPr>
          <a:xfrm>
            <a:off x="0" y="4251960"/>
            <a:ext cx="2926080" cy="45720"/>
          </a:xfrm>
          <a:prstGeom prst="rect">
            <a:avLst/>
          </a:prstGeom>
          <a:solidFill>
            <a:srgbClr val="EA580C"/>
          </a:solidFill>
          <a:ln w="12700">
            <a:solidFill>
              <a:srgbClr val="EA580C"/>
            </a:solidFill>
            <a:prstDash val="solid"/>
          </a:ln>
        </p:spPr>
      </p:sp>
      <p:sp>
        <p:nvSpPr>
          <p:cNvPr id="4" name="Text 2"/>
          <p:cNvSpPr/>
          <p:nvPr/>
        </p:nvSpPr>
        <p:spPr>
          <a:xfrm>
            <a:off x="548640" y="914400"/>
            <a:ext cx="8229600" cy="365760"/>
          </a:xfrm>
          <a:prstGeom prst="rect">
            <a:avLst/>
          </a:prstGeom>
          <a:noFill/>
          <a:ln/>
        </p:spPr>
        <p:txBody>
          <a:bodyPr wrap="square" lIns="0" tIns="0" rIns="0" bIns="0" rtlCol="0" anchor="ctr"/>
          <a:lstStyle/>
          <a:p>
            <a:pPr indent="0" marL="0">
              <a:buNone/>
            </a:pPr>
            <a:r>
              <a:rPr lang="en-US" sz="1300" b="1" spc="800" kern="0" dirty="0">
                <a:solidFill>
                  <a:srgbClr val="0D9488"/>
                </a:solidFill>
                <a:latin typeface="Calibri" pitchFamily="34" charset="0"/>
                <a:ea typeface="Calibri" pitchFamily="34" charset="-122"/>
                <a:cs typeface="Calibri" pitchFamily="34" charset="-120"/>
              </a:rPr>
              <a:t>A LOOK INSIDE THE BIM TOOLBOX</a:t>
            </a:r>
            <a:endParaRPr lang="en-US" sz="1300" dirty="0"/>
          </a:p>
        </p:txBody>
      </p:sp>
      <p:sp>
        <p:nvSpPr>
          <p:cNvPr id="5" name="Text 3"/>
          <p:cNvSpPr/>
          <p:nvPr/>
        </p:nvSpPr>
        <p:spPr>
          <a:xfrm>
            <a:off x="548640" y="1371600"/>
            <a:ext cx="8229600" cy="1828800"/>
          </a:xfrm>
          <a:prstGeom prst="rect">
            <a:avLst/>
          </a:prstGeom>
          <a:noFill/>
          <a:ln/>
        </p:spPr>
        <p:txBody>
          <a:bodyPr wrap="square" lIns="0" tIns="0" rIns="0" bIns="0" rtlCol="0" anchor="ctr"/>
          <a:lstStyle/>
          <a:p>
            <a:pPr indent="0" marL="0">
              <a:lnSpc>
                <a:spcPct val="100000"/>
              </a:lnSpc>
              <a:buNone/>
            </a:pPr>
            <a:r>
              <a:rPr lang="en-US" sz="6000" b="1" dirty="0">
                <a:solidFill>
                  <a:srgbClr val="FFFFFF"/>
                </a:solidFill>
                <a:latin typeface="Georgia" pitchFamily="34" charset="0"/>
                <a:ea typeface="Georgia" pitchFamily="34" charset="-122"/>
                <a:cs typeface="Georgia" pitchFamily="34" charset="-120"/>
              </a:rPr>
              <a:t>AI-Developed</a:t>
            </a:r>
            <a:endParaRPr lang="en-US" sz="6000" dirty="0"/>
          </a:p>
          <a:p>
            <a:pPr indent="0" marL="0">
              <a:lnSpc>
                <a:spcPct val="100000"/>
              </a:lnSpc>
              <a:buNone/>
            </a:pPr>
            <a:r>
              <a:rPr lang="en-US" sz="6000" b="1" dirty="0">
                <a:solidFill>
                  <a:srgbClr val="FFFFFF"/>
                </a:solidFill>
                <a:latin typeface="Georgia" pitchFamily="34" charset="0"/>
                <a:ea typeface="Georgia" pitchFamily="34" charset="-122"/>
                <a:cs typeface="Georgia" pitchFamily="34" charset="-120"/>
              </a:rPr>
              <a:t>Productivity Tools</a:t>
            </a:r>
            <a:endParaRPr lang="en-US" sz="6000" dirty="0"/>
          </a:p>
        </p:txBody>
      </p:sp>
      <p:sp>
        <p:nvSpPr>
          <p:cNvPr id="6" name="Text 4"/>
          <p:cNvSpPr/>
          <p:nvPr/>
        </p:nvSpPr>
        <p:spPr>
          <a:xfrm>
            <a:off x="548640" y="3200400"/>
            <a:ext cx="7772400" cy="73152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Six custom Revit tools that take work the team does every project — and finish it in seconds.</a:t>
            </a:r>
            <a:endParaRPr lang="en-US" sz="1600" dirty="0"/>
          </a:p>
        </p:txBody>
      </p:sp>
      <p:sp>
        <p:nvSpPr>
          <p:cNvPr id="7" name="Text 5"/>
          <p:cNvSpPr/>
          <p:nvPr/>
        </p:nvSpPr>
        <p:spPr>
          <a:xfrm>
            <a:off x="548640" y="4434840"/>
            <a:ext cx="8229600" cy="2743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Nathan Raab  ·  BIM Technician, dbHMS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640080"/>
          </a:xfrm>
          <a:prstGeom prst="rect">
            <a:avLst/>
          </a:prstGeom>
          <a:noFill/>
          <a:ln/>
        </p:spPr>
        <p:txBody>
          <a:bodyPr wrap="square" lIns="0" tIns="0" rIns="0" bIns="0" rtlCol="0" anchor="ctr"/>
          <a:lstStyle/>
          <a:p>
            <a:pPr indent="0" marL="0">
              <a:buNone/>
            </a:pPr>
            <a:r>
              <a:rPr lang="en-US" sz="3600" b="1" dirty="0">
                <a:solidFill>
                  <a:srgbClr val="1E293B"/>
                </a:solidFill>
                <a:latin typeface="Georgia" pitchFamily="34" charset="0"/>
                <a:ea typeface="Georgia" pitchFamily="34" charset="-122"/>
                <a:cs typeface="Georgia" pitchFamily="34" charset="-120"/>
              </a:rPr>
              <a:t>Agenda</a:t>
            </a:r>
            <a:endParaRPr lang="en-US" sz="3600" dirty="0"/>
          </a:p>
        </p:txBody>
      </p:sp>
      <p:sp>
        <p:nvSpPr>
          <p:cNvPr id="3" name="Shape 1"/>
          <p:cNvSpPr/>
          <p:nvPr/>
        </p:nvSpPr>
        <p:spPr>
          <a:xfrm>
            <a:off x="548640" y="1371600"/>
            <a:ext cx="640080" cy="640080"/>
          </a:xfrm>
          <a:prstGeom prst="ellipse">
            <a:avLst/>
          </a:prstGeom>
          <a:solidFill>
            <a:srgbClr val="CCFBF1"/>
          </a:solidFill>
          <a:ln w="12700">
            <a:solidFill>
              <a:srgbClr val="CCFBF1"/>
            </a:solidFill>
            <a:prstDash val="solid"/>
          </a:ln>
        </p:spPr>
      </p:sp>
      <p:sp>
        <p:nvSpPr>
          <p:cNvPr id="4" name="Text 2"/>
          <p:cNvSpPr/>
          <p:nvPr/>
        </p:nvSpPr>
        <p:spPr>
          <a:xfrm>
            <a:off x="548640" y="1371600"/>
            <a:ext cx="640080" cy="640080"/>
          </a:xfrm>
          <a:prstGeom prst="rect">
            <a:avLst/>
          </a:prstGeom>
          <a:noFill/>
          <a:ln/>
        </p:spPr>
        <p:txBody>
          <a:bodyPr wrap="square" lIns="0" tIns="0" rIns="0" bIns="0" rtlCol="0" anchor="ctr"/>
          <a:lstStyle/>
          <a:p>
            <a:pPr algn="ctr" indent="0" marL="0">
              <a:buNone/>
            </a:pPr>
            <a:r>
              <a:rPr lang="en-US" sz="2200" b="1" dirty="0">
                <a:solidFill>
                  <a:srgbClr val="115E59"/>
                </a:solidFill>
                <a:latin typeface="Georgia" pitchFamily="34" charset="0"/>
                <a:ea typeface="Georgia" pitchFamily="34" charset="-122"/>
                <a:cs typeface="Georgia" pitchFamily="34" charset="-120"/>
              </a:rPr>
              <a:t>1</a:t>
            </a:r>
            <a:endParaRPr lang="en-US" sz="2200" dirty="0"/>
          </a:p>
        </p:txBody>
      </p:sp>
      <p:sp>
        <p:nvSpPr>
          <p:cNvPr id="5" name="Text 3"/>
          <p:cNvSpPr/>
          <p:nvPr/>
        </p:nvSpPr>
        <p:spPr>
          <a:xfrm>
            <a:off x="1417320" y="1389888"/>
            <a:ext cx="6949440" cy="365760"/>
          </a:xfrm>
          <a:prstGeom prst="rect">
            <a:avLst/>
          </a:prstGeom>
          <a:noFill/>
          <a:ln/>
        </p:spPr>
        <p:txBody>
          <a:bodyPr wrap="square" lIns="0" tIns="0" rIns="0" bIns="0" rtlCol="0" anchor="ctr"/>
          <a:lstStyle/>
          <a:p>
            <a:pPr indent="0" marL="0">
              <a:buNone/>
            </a:pPr>
            <a:r>
              <a:rPr lang="en-US" sz="2000" b="1" dirty="0">
                <a:solidFill>
                  <a:srgbClr val="1E293B"/>
                </a:solidFill>
                <a:latin typeface="Georgia" pitchFamily="34" charset="0"/>
                <a:ea typeface="Georgia" pitchFamily="34" charset="-122"/>
                <a:cs typeface="Georgia" pitchFamily="34" charset="-120"/>
              </a:rPr>
              <a:t>What the tools do</a:t>
            </a:r>
            <a:endParaRPr lang="en-US" sz="2000" dirty="0"/>
          </a:p>
        </p:txBody>
      </p:sp>
      <p:sp>
        <p:nvSpPr>
          <p:cNvPr id="6" name="Text 4"/>
          <p:cNvSpPr/>
          <p:nvPr/>
        </p:nvSpPr>
        <p:spPr>
          <a:xfrm>
            <a:off x="1417320" y="1783080"/>
            <a:ext cx="69494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Six examples — what changed, and what each is worth in hours.</a:t>
            </a:r>
            <a:endParaRPr lang="en-US" sz="1300" dirty="0"/>
          </a:p>
        </p:txBody>
      </p:sp>
      <p:sp>
        <p:nvSpPr>
          <p:cNvPr id="7" name="Shape 5"/>
          <p:cNvSpPr/>
          <p:nvPr/>
        </p:nvSpPr>
        <p:spPr>
          <a:xfrm>
            <a:off x="548640" y="2377440"/>
            <a:ext cx="640080" cy="640080"/>
          </a:xfrm>
          <a:prstGeom prst="ellipse">
            <a:avLst/>
          </a:prstGeom>
          <a:solidFill>
            <a:srgbClr val="CCFBF1"/>
          </a:solidFill>
          <a:ln w="12700">
            <a:solidFill>
              <a:srgbClr val="CCFBF1"/>
            </a:solidFill>
            <a:prstDash val="solid"/>
          </a:ln>
        </p:spPr>
      </p:sp>
      <p:sp>
        <p:nvSpPr>
          <p:cNvPr id="8" name="Text 6"/>
          <p:cNvSpPr/>
          <p:nvPr/>
        </p:nvSpPr>
        <p:spPr>
          <a:xfrm>
            <a:off x="548640" y="2377440"/>
            <a:ext cx="640080" cy="640080"/>
          </a:xfrm>
          <a:prstGeom prst="rect">
            <a:avLst/>
          </a:prstGeom>
          <a:noFill/>
          <a:ln/>
        </p:spPr>
        <p:txBody>
          <a:bodyPr wrap="square" lIns="0" tIns="0" rIns="0" bIns="0" rtlCol="0" anchor="ctr"/>
          <a:lstStyle/>
          <a:p>
            <a:pPr algn="ctr" indent="0" marL="0">
              <a:buNone/>
            </a:pPr>
            <a:r>
              <a:rPr lang="en-US" sz="2200" b="1" dirty="0">
                <a:solidFill>
                  <a:srgbClr val="115E59"/>
                </a:solidFill>
                <a:latin typeface="Georgia" pitchFamily="34" charset="0"/>
                <a:ea typeface="Georgia" pitchFamily="34" charset="-122"/>
                <a:cs typeface="Georgia" pitchFamily="34" charset="-120"/>
              </a:rPr>
              <a:t>2</a:t>
            </a:r>
            <a:endParaRPr lang="en-US" sz="2200" dirty="0"/>
          </a:p>
        </p:txBody>
      </p:sp>
      <p:sp>
        <p:nvSpPr>
          <p:cNvPr id="9" name="Text 7"/>
          <p:cNvSpPr/>
          <p:nvPr/>
        </p:nvSpPr>
        <p:spPr>
          <a:xfrm>
            <a:off x="1417320" y="2395728"/>
            <a:ext cx="6949440" cy="365760"/>
          </a:xfrm>
          <a:prstGeom prst="rect">
            <a:avLst/>
          </a:prstGeom>
          <a:noFill/>
          <a:ln/>
        </p:spPr>
        <p:txBody>
          <a:bodyPr wrap="square" lIns="0" tIns="0" rIns="0" bIns="0" rtlCol="0" anchor="ctr"/>
          <a:lstStyle/>
          <a:p>
            <a:pPr indent="0" marL="0">
              <a:buNone/>
            </a:pPr>
            <a:r>
              <a:rPr lang="en-US" sz="2000" b="1" dirty="0">
                <a:solidFill>
                  <a:srgbClr val="1E293B"/>
                </a:solidFill>
                <a:latin typeface="Georgia" pitchFamily="34" charset="0"/>
                <a:ea typeface="Georgia" pitchFamily="34" charset="-122"/>
                <a:cs typeface="Georgia" pitchFamily="34" charset="-120"/>
              </a:rPr>
              <a:t>How they were built</a:t>
            </a:r>
            <a:endParaRPr lang="en-US" sz="2000" dirty="0"/>
          </a:p>
        </p:txBody>
      </p:sp>
      <p:sp>
        <p:nvSpPr>
          <p:cNvPr id="10" name="Text 8"/>
          <p:cNvSpPr/>
          <p:nvPr/>
        </p:nvSpPr>
        <p:spPr>
          <a:xfrm>
            <a:off x="1417320" y="2788920"/>
            <a:ext cx="69494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AI changes who can build internal tools and how fast.</a:t>
            </a:r>
            <a:endParaRPr lang="en-US" sz="1300" dirty="0"/>
          </a:p>
        </p:txBody>
      </p:sp>
      <p:sp>
        <p:nvSpPr>
          <p:cNvPr id="11" name="Shape 9"/>
          <p:cNvSpPr/>
          <p:nvPr/>
        </p:nvSpPr>
        <p:spPr>
          <a:xfrm>
            <a:off x="548640" y="3383280"/>
            <a:ext cx="640080" cy="640080"/>
          </a:xfrm>
          <a:prstGeom prst="ellipse">
            <a:avLst/>
          </a:prstGeom>
          <a:solidFill>
            <a:srgbClr val="CCFBF1"/>
          </a:solidFill>
          <a:ln w="12700">
            <a:solidFill>
              <a:srgbClr val="CCFBF1"/>
            </a:solidFill>
            <a:prstDash val="solid"/>
          </a:ln>
        </p:spPr>
      </p:sp>
      <p:sp>
        <p:nvSpPr>
          <p:cNvPr id="12" name="Text 10"/>
          <p:cNvSpPr/>
          <p:nvPr/>
        </p:nvSpPr>
        <p:spPr>
          <a:xfrm>
            <a:off x="548640" y="3383280"/>
            <a:ext cx="640080" cy="640080"/>
          </a:xfrm>
          <a:prstGeom prst="rect">
            <a:avLst/>
          </a:prstGeom>
          <a:noFill/>
          <a:ln/>
        </p:spPr>
        <p:txBody>
          <a:bodyPr wrap="square" lIns="0" tIns="0" rIns="0" bIns="0" rtlCol="0" anchor="ctr"/>
          <a:lstStyle/>
          <a:p>
            <a:pPr algn="ctr" indent="0" marL="0">
              <a:buNone/>
            </a:pPr>
            <a:r>
              <a:rPr lang="en-US" sz="2200" b="1" dirty="0">
                <a:solidFill>
                  <a:srgbClr val="115E59"/>
                </a:solidFill>
                <a:latin typeface="Georgia" pitchFamily="34" charset="0"/>
                <a:ea typeface="Georgia" pitchFamily="34" charset="-122"/>
                <a:cs typeface="Georgia" pitchFamily="34" charset="-120"/>
              </a:rPr>
              <a:t>3</a:t>
            </a:r>
            <a:endParaRPr lang="en-US" sz="2200" dirty="0"/>
          </a:p>
        </p:txBody>
      </p:sp>
      <p:sp>
        <p:nvSpPr>
          <p:cNvPr id="13" name="Text 11"/>
          <p:cNvSpPr/>
          <p:nvPr/>
        </p:nvSpPr>
        <p:spPr>
          <a:xfrm>
            <a:off x="1417320" y="3401568"/>
            <a:ext cx="6949440" cy="365760"/>
          </a:xfrm>
          <a:prstGeom prst="rect">
            <a:avLst/>
          </a:prstGeom>
          <a:noFill/>
          <a:ln/>
        </p:spPr>
        <p:txBody>
          <a:bodyPr wrap="square" lIns="0" tIns="0" rIns="0" bIns="0" rtlCol="0" anchor="ctr"/>
          <a:lstStyle/>
          <a:p>
            <a:pPr indent="0" marL="0">
              <a:buNone/>
            </a:pPr>
            <a:r>
              <a:rPr lang="en-US" sz="2000" b="1" dirty="0">
                <a:solidFill>
                  <a:srgbClr val="1E293B"/>
                </a:solidFill>
                <a:latin typeface="Georgia" pitchFamily="34" charset="0"/>
                <a:ea typeface="Georgia" pitchFamily="34" charset="-122"/>
                <a:cs typeface="Georgia" pitchFamily="34" charset="-120"/>
              </a:rPr>
              <a:t>What it means for the firm</a:t>
            </a:r>
            <a:endParaRPr lang="en-US" sz="2000" dirty="0"/>
          </a:p>
        </p:txBody>
      </p:sp>
      <p:sp>
        <p:nvSpPr>
          <p:cNvPr id="14" name="Text 12"/>
          <p:cNvSpPr/>
          <p:nvPr/>
        </p:nvSpPr>
        <p:spPr>
          <a:xfrm>
            <a:off x="1417320" y="3794760"/>
            <a:ext cx="69494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The opportunity, the real risks, and what to do next.</a:t>
            </a:r>
            <a:endParaRPr lang="en-US" sz="1300" dirty="0"/>
          </a:p>
        </p:txBody>
      </p:sp>
      <p:sp>
        <p:nvSpPr>
          <p:cNvPr id="15" name="Text 13"/>
          <p:cNvSpPr/>
          <p:nvPr/>
        </p:nvSpPr>
        <p:spPr>
          <a:xfrm>
            <a:off x="365760" y="4846320"/>
            <a:ext cx="3657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AI-Developed Productivity Tools</a:t>
            </a:r>
            <a:endParaRPr lang="en-US" sz="900" dirty="0"/>
          </a:p>
        </p:txBody>
      </p:sp>
      <p:sp>
        <p:nvSpPr>
          <p:cNvPr id="16" name="Text 14"/>
          <p:cNvSpPr/>
          <p:nvPr/>
        </p:nvSpPr>
        <p:spPr>
          <a:xfrm>
            <a:off x="5120640" y="4846320"/>
            <a:ext cx="3108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dbHMS  ·  Nathan Raab</a:t>
            </a:r>
            <a:endParaRPr lang="en-US" sz="900" dirty="0"/>
          </a:p>
        </p:txBody>
      </p:sp>
      <p:sp>
        <p:nvSpPr>
          <p:cNvPr id="17" name="Text 15"/>
          <p:cNvSpPr/>
          <p:nvPr/>
        </p:nvSpPr>
        <p:spPr>
          <a:xfrm>
            <a:off x="8412480" y="4846320"/>
            <a:ext cx="54864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548640" y="1371600"/>
            <a:ext cx="8229600" cy="365760"/>
          </a:xfrm>
          <a:prstGeom prst="rect">
            <a:avLst/>
          </a:prstGeom>
          <a:noFill/>
          <a:ln/>
        </p:spPr>
        <p:txBody>
          <a:bodyPr wrap="square" lIns="0" tIns="0" rIns="0" bIns="0" rtlCol="0" anchor="ctr"/>
          <a:lstStyle/>
          <a:p>
            <a:pPr indent="0" marL="0">
              <a:buNone/>
            </a:pPr>
            <a:r>
              <a:rPr lang="en-US" sz="1400" b="1" spc="1000" kern="0" dirty="0">
                <a:solidFill>
                  <a:srgbClr val="0D9488"/>
                </a:solidFill>
                <a:latin typeface="Calibri" pitchFamily="34" charset="0"/>
                <a:ea typeface="Calibri" pitchFamily="34" charset="-122"/>
                <a:cs typeface="Calibri" pitchFamily="34" charset="-120"/>
              </a:rPr>
              <a:t>PART 1</a:t>
            </a:r>
            <a:endParaRPr lang="en-US" sz="1400" dirty="0"/>
          </a:p>
        </p:txBody>
      </p:sp>
      <p:sp>
        <p:nvSpPr>
          <p:cNvPr id="3" name="Text 1"/>
          <p:cNvSpPr/>
          <p:nvPr/>
        </p:nvSpPr>
        <p:spPr>
          <a:xfrm>
            <a:off x="548640" y="1828800"/>
            <a:ext cx="8229600" cy="1645920"/>
          </a:xfrm>
          <a:prstGeom prst="rect">
            <a:avLst/>
          </a:prstGeom>
          <a:noFill/>
          <a:ln/>
        </p:spPr>
        <p:txBody>
          <a:bodyPr wrap="square" lIns="0" tIns="0" rIns="0" bIns="0" rtlCol="0" anchor="ctr"/>
          <a:lstStyle/>
          <a:p>
            <a:pPr indent="0" marL="0">
              <a:lnSpc>
                <a:spcPct val="100000"/>
              </a:lnSpc>
              <a:buNone/>
            </a:pPr>
            <a:r>
              <a:rPr lang="en-US" sz="4800" b="1" dirty="0">
                <a:solidFill>
                  <a:srgbClr val="FFFFFF"/>
                </a:solidFill>
                <a:latin typeface="Georgia" pitchFamily="34" charset="0"/>
                <a:ea typeface="Georgia" pitchFamily="34" charset="-122"/>
                <a:cs typeface="Georgia" pitchFamily="34" charset="-120"/>
              </a:rPr>
              <a:t>Tools that dramatically</a:t>
            </a:r>
            <a:endParaRPr lang="en-US" sz="4800" dirty="0"/>
          </a:p>
          <a:p>
            <a:pPr indent="0" marL="0">
              <a:lnSpc>
                <a:spcPct val="100000"/>
              </a:lnSpc>
              <a:buNone/>
            </a:pPr>
            <a:r>
              <a:rPr lang="en-US" sz="4800" b="1" dirty="0">
                <a:solidFill>
                  <a:srgbClr val="FFFFFF"/>
                </a:solidFill>
                <a:latin typeface="Georgia" pitchFamily="34" charset="0"/>
                <a:ea typeface="Georgia" pitchFamily="34" charset="-122"/>
                <a:cs typeface="Georgia" pitchFamily="34" charset="-120"/>
              </a:rPr>
              <a:t>boost productivity</a:t>
            </a:r>
            <a:endParaRPr lang="en-US" sz="4800" dirty="0"/>
          </a:p>
        </p:txBody>
      </p:sp>
      <p:sp>
        <p:nvSpPr>
          <p:cNvPr id="4" name="Text 2"/>
          <p:cNvSpPr/>
          <p:nvPr/>
        </p:nvSpPr>
        <p:spPr>
          <a:xfrm>
            <a:off x="548640" y="3566160"/>
            <a:ext cx="8229600" cy="45720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From manual, sheet-by-sheet drudgery → one click, project-wide.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8229600" cy="594360"/>
          </a:xfrm>
          <a:prstGeom prst="rect">
            <a:avLst/>
          </a:prstGeom>
          <a:noFill/>
          <a:ln/>
        </p:spPr>
        <p:txBody>
          <a:bodyPr wrap="square" lIns="0" tIns="0" rIns="0" bIns="0" rtlCol="0" anchor="ctr"/>
          <a:lstStyle/>
          <a:p>
            <a:pPr indent="0" marL="0">
              <a:buNone/>
            </a:pPr>
            <a:r>
              <a:rPr lang="en-US" sz="3000" b="1" dirty="0">
                <a:solidFill>
                  <a:srgbClr val="1E293B"/>
                </a:solidFill>
                <a:latin typeface="Georgia" pitchFamily="34" charset="0"/>
                <a:ea typeface="Georgia" pitchFamily="34" charset="-122"/>
                <a:cs typeface="Georgia" pitchFamily="34" charset="-120"/>
              </a:rPr>
              <a:t>Six tools, one toolbar</a:t>
            </a:r>
            <a:endParaRPr lang="en-US" sz="3000" dirty="0"/>
          </a:p>
        </p:txBody>
      </p:sp>
      <p:sp>
        <p:nvSpPr>
          <p:cNvPr id="3" name="Text 1"/>
          <p:cNvSpPr/>
          <p:nvPr/>
        </p:nvSpPr>
        <p:spPr>
          <a:xfrm>
            <a:off x="548640" y="868680"/>
            <a:ext cx="8229600" cy="3200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All live inside Revit, behind a single button each. None of them require the engineer to leave the model.</a:t>
            </a:r>
            <a:endParaRPr lang="en-US" sz="1200" dirty="0"/>
          </a:p>
        </p:txBody>
      </p:sp>
      <p:sp>
        <p:nvSpPr>
          <p:cNvPr id="4" name="Shape 2"/>
          <p:cNvSpPr/>
          <p:nvPr/>
        </p:nvSpPr>
        <p:spPr>
          <a:xfrm>
            <a:off x="365760" y="1371600"/>
            <a:ext cx="2697480" cy="1508760"/>
          </a:xfrm>
          <a:prstGeom prst="rect">
            <a:avLst/>
          </a:prstGeom>
          <a:solidFill>
            <a:srgbClr val="FFFFFF"/>
          </a:solidFill>
          <a:ln w="12700">
            <a:solidFill>
              <a:srgbClr val="E2E8F0"/>
            </a:solidFill>
            <a:prstDash val="solid"/>
          </a:ln>
          <a:effectLst>
            <a:outerShdw sx="100000" sy="100000" kx="0" ky="0" algn="bl" rotWithShape="0" blurRad="76200" dist="12700" dir="5400000">
              <a:srgbClr val="000000">
                <a:alpha val="6000"/>
              </a:srgbClr>
            </a:outerShdw>
          </a:effectLst>
        </p:spPr>
      </p:sp>
      <p:sp>
        <p:nvSpPr>
          <p:cNvPr id="5" name="Shape 3"/>
          <p:cNvSpPr/>
          <p:nvPr/>
        </p:nvSpPr>
        <p:spPr>
          <a:xfrm>
            <a:off x="365760" y="1371600"/>
            <a:ext cx="64008" cy="1508760"/>
          </a:xfrm>
          <a:prstGeom prst="rect">
            <a:avLst/>
          </a:prstGeom>
          <a:solidFill>
            <a:srgbClr val="0D9488"/>
          </a:solidFill>
          <a:ln w="12700">
            <a:solidFill>
              <a:srgbClr val="0D9488"/>
            </a:solidFill>
            <a:prstDash val="solid"/>
          </a:ln>
        </p:spPr>
      </p:sp>
      <p:sp>
        <p:nvSpPr>
          <p:cNvPr id="6" name="Shape 4"/>
          <p:cNvSpPr/>
          <p:nvPr/>
        </p:nvSpPr>
        <p:spPr>
          <a:xfrm>
            <a:off x="594360" y="1600200"/>
            <a:ext cx="548640" cy="548640"/>
          </a:xfrm>
          <a:prstGeom prst="ellipse">
            <a:avLst/>
          </a:prstGeom>
          <a:solidFill>
            <a:srgbClr val="CCFBF1"/>
          </a:solidFill>
          <a:ln w="12700">
            <a:solidFill>
              <a:srgbClr val="CCFBF1"/>
            </a:solidFill>
            <a:prstDash val="solid"/>
          </a:ln>
        </p:spPr>
      </p:sp>
      <p:pic>
        <p:nvPicPr>
          <p:cNvPr id="7" name="Image 0" descr="preencoded.png">    </p:cNvPr>
          <p:cNvPicPr>
            <a:picLocks noChangeAspect="1"/>
          </p:cNvPicPr>
          <p:nvPr/>
        </p:nvPicPr>
        <p:blipFill>
          <a:blip r:embed="rId1"/>
          <a:stretch>
            <a:fillRect/>
          </a:stretch>
        </p:blipFill>
        <p:spPr>
          <a:xfrm>
            <a:off x="694944" y="1700784"/>
            <a:ext cx="347472" cy="347472"/>
          </a:xfrm>
          <a:prstGeom prst="rect">
            <a:avLst/>
          </a:prstGeom>
        </p:spPr>
      </p:pic>
      <p:sp>
        <p:nvSpPr>
          <p:cNvPr id="8" name="Text 5"/>
          <p:cNvSpPr/>
          <p:nvPr/>
        </p:nvSpPr>
        <p:spPr>
          <a:xfrm>
            <a:off x="1234440" y="1572768"/>
            <a:ext cx="1737360" cy="32004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Sheet Setup</a:t>
            </a:r>
            <a:endParaRPr lang="en-US" sz="1500" dirty="0"/>
          </a:p>
        </p:txBody>
      </p:sp>
      <p:sp>
        <p:nvSpPr>
          <p:cNvPr id="9" name="Text 6"/>
          <p:cNvSpPr/>
          <p:nvPr/>
        </p:nvSpPr>
        <p:spPr>
          <a:xfrm>
            <a:off x="1234440" y="1874520"/>
            <a:ext cx="1737360" cy="5029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One-click MEP project sheet &amp; view scaffolding</a:t>
            </a:r>
            <a:endParaRPr lang="en-US" sz="1000" dirty="0"/>
          </a:p>
        </p:txBody>
      </p:sp>
      <p:sp>
        <p:nvSpPr>
          <p:cNvPr id="10" name="Shape 7"/>
          <p:cNvSpPr/>
          <p:nvPr/>
        </p:nvSpPr>
        <p:spPr>
          <a:xfrm>
            <a:off x="594360" y="2468880"/>
            <a:ext cx="1188720" cy="292608"/>
          </a:xfrm>
          <a:prstGeom prst="roundRect">
            <a:avLst>
              <a:gd name="adj" fmla="val 15625"/>
            </a:avLst>
          </a:prstGeom>
          <a:solidFill>
            <a:srgbClr val="FFEDD5"/>
          </a:solidFill>
          <a:ln w="12700">
            <a:solidFill>
              <a:srgbClr val="FFEDD5"/>
            </a:solidFill>
            <a:prstDash val="solid"/>
          </a:ln>
        </p:spPr>
      </p:sp>
      <p:sp>
        <p:nvSpPr>
          <p:cNvPr id="11" name="Text 8"/>
          <p:cNvSpPr/>
          <p:nvPr/>
        </p:nvSpPr>
        <p:spPr>
          <a:xfrm>
            <a:off x="594360" y="2468880"/>
            <a:ext cx="1188720" cy="292608"/>
          </a:xfrm>
          <a:prstGeom prst="rect">
            <a:avLst/>
          </a:prstGeom>
          <a:noFill/>
          <a:ln/>
        </p:spPr>
        <p:txBody>
          <a:bodyPr wrap="square" lIns="0" tIns="0" rIns="0" bIns="0" rtlCol="0" anchor="ctr"/>
          <a:lstStyle/>
          <a:p>
            <a:pPr algn="ctr" indent="0" marL="0">
              <a:buNone/>
            </a:pPr>
            <a:r>
              <a:rPr lang="en-US" sz="1000" b="1" dirty="0">
                <a:solidFill>
                  <a:srgbClr val="EA580C"/>
                </a:solidFill>
                <a:latin typeface="Calibri" pitchFamily="34" charset="0"/>
                <a:ea typeface="Calibri" pitchFamily="34" charset="-122"/>
                <a:cs typeface="Calibri" pitchFamily="34" charset="-120"/>
              </a:rPr>
              <a:t>~6h saved</a:t>
            </a:r>
            <a:endParaRPr lang="en-US" sz="1000" dirty="0"/>
          </a:p>
        </p:txBody>
      </p:sp>
      <p:sp>
        <p:nvSpPr>
          <p:cNvPr id="12" name="Text 9"/>
          <p:cNvSpPr/>
          <p:nvPr/>
        </p:nvSpPr>
        <p:spPr>
          <a:xfrm>
            <a:off x="1828800" y="2468880"/>
            <a:ext cx="1143000" cy="29260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every project kickoff</a:t>
            </a:r>
            <a:endParaRPr lang="en-US" sz="900" dirty="0"/>
          </a:p>
        </p:txBody>
      </p:sp>
      <p:sp>
        <p:nvSpPr>
          <p:cNvPr id="13" name="Shape 10"/>
          <p:cNvSpPr/>
          <p:nvPr/>
        </p:nvSpPr>
        <p:spPr>
          <a:xfrm>
            <a:off x="3154680" y="1371600"/>
            <a:ext cx="2697480" cy="1508760"/>
          </a:xfrm>
          <a:prstGeom prst="rect">
            <a:avLst/>
          </a:prstGeom>
          <a:solidFill>
            <a:srgbClr val="FFFFFF"/>
          </a:solidFill>
          <a:ln w="12700">
            <a:solidFill>
              <a:srgbClr val="E2E8F0"/>
            </a:solidFill>
            <a:prstDash val="solid"/>
          </a:ln>
          <a:effectLst>
            <a:outerShdw sx="100000" sy="100000" kx="0" ky="0" algn="bl" rotWithShape="0" blurRad="76200" dist="12700" dir="5400000">
              <a:srgbClr val="000000">
                <a:alpha val="6000"/>
              </a:srgbClr>
            </a:outerShdw>
          </a:effectLst>
        </p:spPr>
      </p:sp>
      <p:sp>
        <p:nvSpPr>
          <p:cNvPr id="14" name="Shape 11"/>
          <p:cNvSpPr/>
          <p:nvPr/>
        </p:nvSpPr>
        <p:spPr>
          <a:xfrm>
            <a:off x="3154680" y="1371600"/>
            <a:ext cx="64008" cy="1508760"/>
          </a:xfrm>
          <a:prstGeom prst="rect">
            <a:avLst/>
          </a:prstGeom>
          <a:solidFill>
            <a:srgbClr val="0D9488"/>
          </a:solidFill>
          <a:ln w="12700">
            <a:solidFill>
              <a:srgbClr val="0D9488"/>
            </a:solidFill>
            <a:prstDash val="solid"/>
          </a:ln>
        </p:spPr>
      </p:sp>
      <p:sp>
        <p:nvSpPr>
          <p:cNvPr id="15" name="Shape 12"/>
          <p:cNvSpPr/>
          <p:nvPr/>
        </p:nvSpPr>
        <p:spPr>
          <a:xfrm>
            <a:off x="3383280" y="1600200"/>
            <a:ext cx="548640" cy="548640"/>
          </a:xfrm>
          <a:prstGeom prst="ellipse">
            <a:avLst/>
          </a:prstGeom>
          <a:solidFill>
            <a:srgbClr val="CCFBF1"/>
          </a:solidFill>
          <a:ln w="12700">
            <a:solidFill>
              <a:srgbClr val="CCFBF1"/>
            </a:solidFill>
            <a:prstDash val="solid"/>
          </a:ln>
        </p:spPr>
      </p:sp>
      <p:pic>
        <p:nvPicPr>
          <p:cNvPr id="16" name="Image 1" descr="preencoded.png">    </p:cNvPr>
          <p:cNvPicPr>
            <a:picLocks noChangeAspect="1"/>
          </p:cNvPicPr>
          <p:nvPr/>
        </p:nvPicPr>
        <p:blipFill>
          <a:blip r:embed="rId2"/>
          <a:stretch>
            <a:fillRect/>
          </a:stretch>
        </p:blipFill>
        <p:spPr>
          <a:xfrm>
            <a:off x="3483864" y="1700784"/>
            <a:ext cx="347472" cy="347472"/>
          </a:xfrm>
          <a:prstGeom prst="rect">
            <a:avLst/>
          </a:prstGeom>
        </p:spPr>
      </p:pic>
      <p:sp>
        <p:nvSpPr>
          <p:cNvPr id="17" name="Text 13"/>
          <p:cNvSpPr/>
          <p:nvPr/>
        </p:nvSpPr>
        <p:spPr>
          <a:xfrm>
            <a:off x="4023360" y="1572768"/>
            <a:ext cx="1737360" cy="32004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Align Views</a:t>
            </a:r>
            <a:endParaRPr lang="en-US" sz="1500" dirty="0"/>
          </a:p>
        </p:txBody>
      </p:sp>
      <p:sp>
        <p:nvSpPr>
          <p:cNvPr id="18" name="Text 14"/>
          <p:cNvSpPr/>
          <p:nvPr/>
        </p:nvSpPr>
        <p:spPr>
          <a:xfrm>
            <a:off x="4023360" y="1874520"/>
            <a:ext cx="1737360" cy="5029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Match viewport position and view title across sheets</a:t>
            </a:r>
            <a:endParaRPr lang="en-US" sz="1000" dirty="0"/>
          </a:p>
        </p:txBody>
      </p:sp>
      <p:sp>
        <p:nvSpPr>
          <p:cNvPr id="19" name="Shape 15"/>
          <p:cNvSpPr/>
          <p:nvPr/>
        </p:nvSpPr>
        <p:spPr>
          <a:xfrm>
            <a:off x="3383280" y="2468880"/>
            <a:ext cx="1188720" cy="292608"/>
          </a:xfrm>
          <a:prstGeom prst="roundRect">
            <a:avLst>
              <a:gd name="adj" fmla="val 15625"/>
            </a:avLst>
          </a:prstGeom>
          <a:solidFill>
            <a:srgbClr val="FFEDD5"/>
          </a:solidFill>
          <a:ln w="12700">
            <a:solidFill>
              <a:srgbClr val="FFEDD5"/>
            </a:solidFill>
            <a:prstDash val="solid"/>
          </a:ln>
        </p:spPr>
      </p:sp>
      <p:sp>
        <p:nvSpPr>
          <p:cNvPr id="20" name="Text 16"/>
          <p:cNvSpPr/>
          <p:nvPr/>
        </p:nvSpPr>
        <p:spPr>
          <a:xfrm>
            <a:off x="3383280" y="2468880"/>
            <a:ext cx="1188720" cy="292608"/>
          </a:xfrm>
          <a:prstGeom prst="rect">
            <a:avLst/>
          </a:prstGeom>
          <a:noFill/>
          <a:ln/>
        </p:spPr>
        <p:txBody>
          <a:bodyPr wrap="square" lIns="0" tIns="0" rIns="0" bIns="0" rtlCol="0" anchor="ctr"/>
          <a:lstStyle/>
          <a:p>
            <a:pPr algn="ctr" indent="0" marL="0">
              <a:buNone/>
            </a:pPr>
            <a:r>
              <a:rPr lang="en-US" sz="1000" b="1" dirty="0">
                <a:solidFill>
                  <a:srgbClr val="EA580C"/>
                </a:solidFill>
                <a:latin typeface="Calibri" pitchFamily="34" charset="0"/>
                <a:ea typeface="Calibri" pitchFamily="34" charset="-122"/>
                <a:cs typeface="Calibri" pitchFamily="34" charset="-120"/>
              </a:rPr>
              <a:t>~2h saved</a:t>
            </a:r>
            <a:endParaRPr lang="en-US" sz="1000" dirty="0"/>
          </a:p>
        </p:txBody>
      </p:sp>
      <p:sp>
        <p:nvSpPr>
          <p:cNvPr id="21" name="Text 17"/>
          <p:cNvSpPr/>
          <p:nvPr/>
        </p:nvSpPr>
        <p:spPr>
          <a:xfrm>
            <a:off x="4617720" y="2468880"/>
            <a:ext cx="1143000" cy="29260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every QA pass</a:t>
            </a:r>
            <a:endParaRPr lang="en-US" sz="900" dirty="0"/>
          </a:p>
        </p:txBody>
      </p:sp>
      <p:sp>
        <p:nvSpPr>
          <p:cNvPr id="22" name="Shape 18"/>
          <p:cNvSpPr/>
          <p:nvPr/>
        </p:nvSpPr>
        <p:spPr>
          <a:xfrm>
            <a:off x="5943600" y="1371600"/>
            <a:ext cx="2697480" cy="1508760"/>
          </a:xfrm>
          <a:prstGeom prst="rect">
            <a:avLst/>
          </a:prstGeom>
          <a:solidFill>
            <a:srgbClr val="FFFFFF"/>
          </a:solidFill>
          <a:ln w="12700">
            <a:solidFill>
              <a:srgbClr val="E2E8F0"/>
            </a:solidFill>
            <a:prstDash val="solid"/>
          </a:ln>
          <a:effectLst>
            <a:outerShdw sx="100000" sy="100000" kx="0" ky="0" algn="bl" rotWithShape="0" blurRad="76200" dist="12700" dir="5400000">
              <a:srgbClr val="000000">
                <a:alpha val="6000"/>
              </a:srgbClr>
            </a:outerShdw>
          </a:effectLst>
        </p:spPr>
      </p:sp>
      <p:sp>
        <p:nvSpPr>
          <p:cNvPr id="23" name="Shape 19"/>
          <p:cNvSpPr/>
          <p:nvPr/>
        </p:nvSpPr>
        <p:spPr>
          <a:xfrm>
            <a:off x="5943600" y="1371600"/>
            <a:ext cx="64008" cy="1508760"/>
          </a:xfrm>
          <a:prstGeom prst="rect">
            <a:avLst/>
          </a:prstGeom>
          <a:solidFill>
            <a:srgbClr val="0D9488"/>
          </a:solidFill>
          <a:ln w="12700">
            <a:solidFill>
              <a:srgbClr val="0D9488"/>
            </a:solidFill>
            <a:prstDash val="solid"/>
          </a:ln>
        </p:spPr>
      </p:sp>
      <p:sp>
        <p:nvSpPr>
          <p:cNvPr id="24" name="Shape 20"/>
          <p:cNvSpPr/>
          <p:nvPr/>
        </p:nvSpPr>
        <p:spPr>
          <a:xfrm>
            <a:off x="6172200" y="1600200"/>
            <a:ext cx="548640" cy="548640"/>
          </a:xfrm>
          <a:prstGeom prst="ellipse">
            <a:avLst/>
          </a:prstGeom>
          <a:solidFill>
            <a:srgbClr val="CCFBF1"/>
          </a:solidFill>
          <a:ln w="12700">
            <a:solidFill>
              <a:srgbClr val="CCFBF1"/>
            </a:solidFill>
            <a:prstDash val="solid"/>
          </a:ln>
        </p:spPr>
      </p:sp>
      <p:pic>
        <p:nvPicPr>
          <p:cNvPr id="25" name="Image 2" descr="preencoded.png">    </p:cNvPr>
          <p:cNvPicPr>
            <a:picLocks noChangeAspect="1"/>
          </p:cNvPicPr>
          <p:nvPr/>
        </p:nvPicPr>
        <p:blipFill>
          <a:blip r:embed="rId3"/>
          <a:stretch>
            <a:fillRect/>
          </a:stretch>
        </p:blipFill>
        <p:spPr>
          <a:xfrm>
            <a:off x="6272784" y="1700784"/>
            <a:ext cx="347472" cy="347472"/>
          </a:xfrm>
          <a:prstGeom prst="rect">
            <a:avLst/>
          </a:prstGeom>
        </p:spPr>
      </p:pic>
      <p:sp>
        <p:nvSpPr>
          <p:cNvPr id="26" name="Text 21"/>
          <p:cNvSpPr/>
          <p:nvPr/>
        </p:nvSpPr>
        <p:spPr>
          <a:xfrm>
            <a:off x="6812280" y="1572768"/>
            <a:ext cx="1737360" cy="32004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Sheet Manager</a:t>
            </a:r>
            <a:endParaRPr lang="en-US" sz="1500" dirty="0"/>
          </a:p>
        </p:txBody>
      </p:sp>
      <p:sp>
        <p:nvSpPr>
          <p:cNvPr id="27" name="Text 22"/>
          <p:cNvSpPr/>
          <p:nvPr/>
        </p:nvSpPr>
        <p:spPr>
          <a:xfrm>
            <a:off x="6812280" y="1874520"/>
            <a:ext cx="1737360" cy="5029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Group, rename, renumber and duplicate sheets in bulk</a:t>
            </a:r>
            <a:endParaRPr lang="en-US" sz="1000" dirty="0"/>
          </a:p>
        </p:txBody>
      </p:sp>
      <p:sp>
        <p:nvSpPr>
          <p:cNvPr id="28" name="Shape 23"/>
          <p:cNvSpPr/>
          <p:nvPr/>
        </p:nvSpPr>
        <p:spPr>
          <a:xfrm>
            <a:off x="6172200" y="2468880"/>
            <a:ext cx="1188720" cy="292608"/>
          </a:xfrm>
          <a:prstGeom prst="roundRect">
            <a:avLst>
              <a:gd name="adj" fmla="val 15625"/>
            </a:avLst>
          </a:prstGeom>
          <a:solidFill>
            <a:srgbClr val="FFEDD5"/>
          </a:solidFill>
          <a:ln w="12700">
            <a:solidFill>
              <a:srgbClr val="FFEDD5"/>
            </a:solidFill>
            <a:prstDash val="solid"/>
          </a:ln>
        </p:spPr>
      </p:sp>
      <p:sp>
        <p:nvSpPr>
          <p:cNvPr id="29" name="Text 24"/>
          <p:cNvSpPr/>
          <p:nvPr/>
        </p:nvSpPr>
        <p:spPr>
          <a:xfrm>
            <a:off x="6172200" y="2468880"/>
            <a:ext cx="1188720" cy="292608"/>
          </a:xfrm>
          <a:prstGeom prst="rect">
            <a:avLst/>
          </a:prstGeom>
          <a:noFill/>
          <a:ln/>
        </p:spPr>
        <p:txBody>
          <a:bodyPr wrap="square" lIns="0" tIns="0" rIns="0" bIns="0" rtlCol="0" anchor="ctr"/>
          <a:lstStyle/>
          <a:p>
            <a:pPr algn="ctr" indent="0" marL="0">
              <a:buNone/>
            </a:pPr>
            <a:r>
              <a:rPr lang="en-US" sz="1000" b="1" dirty="0">
                <a:solidFill>
                  <a:srgbClr val="EA580C"/>
                </a:solidFill>
                <a:latin typeface="Calibri" pitchFamily="34" charset="0"/>
                <a:ea typeface="Calibri" pitchFamily="34" charset="-122"/>
                <a:cs typeface="Calibri" pitchFamily="34" charset="-120"/>
              </a:rPr>
              <a:t>~1.5h saved</a:t>
            </a:r>
            <a:endParaRPr lang="en-US" sz="1000" dirty="0"/>
          </a:p>
        </p:txBody>
      </p:sp>
      <p:sp>
        <p:nvSpPr>
          <p:cNvPr id="30" name="Text 25"/>
          <p:cNvSpPr/>
          <p:nvPr/>
        </p:nvSpPr>
        <p:spPr>
          <a:xfrm>
            <a:off x="7406640" y="2468880"/>
            <a:ext cx="1143000" cy="29260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every renumber, every issue cycle</a:t>
            </a:r>
            <a:endParaRPr lang="en-US" sz="900" dirty="0"/>
          </a:p>
        </p:txBody>
      </p:sp>
      <p:sp>
        <p:nvSpPr>
          <p:cNvPr id="31" name="Shape 26"/>
          <p:cNvSpPr/>
          <p:nvPr/>
        </p:nvSpPr>
        <p:spPr>
          <a:xfrm>
            <a:off x="365760" y="3017520"/>
            <a:ext cx="2697480" cy="1508760"/>
          </a:xfrm>
          <a:prstGeom prst="rect">
            <a:avLst/>
          </a:prstGeom>
          <a:solidFill>
            <a:srgbClr val="FFFFFF"/>
          </a:solidFill>
          <a:ln w="12700">
            <a:solidFill>
              <a:srgbClr val="E2E8F0"/>
            </a:solidFill>
            <a:prstDash val="solid"/>
          </a:ln>
          <a:effectLst>
            <a:outerShdw sx="100000" sy="100000" kx="0" ky="0" algn="bl" rotWithShape="0" blurRad="76200" dist="12700" dir="5400000">
              <a:srgbClr val="000000">
                <a:alpha val="6000"/>
              </a:srgbClr>
            </a:outerShdw>
          </a:effectLst>
        </p:spPr>
      </p:sp>
      <p:sp>
        <p:nvSpPr>
          <p:cNvPr id="32" name="Shape 27"/>
          <p:cNvSpPr/>
          <p:nvPr/>
        </p:nvSpPr>
        <p:spPr>
          <a:xfrm>
            <a:off x="365760" y="3017520"/>
            <a:ext cx="64008" cy="1508760"/>
          </a:xfrm>
          <a:prstGeom prst="rect">
            <a:avLst/>
          </a:prstGeom>
          <a:solidFill>
            <a:srgbClr val="0D9488"/>
          </a:solidFill>
          <a:ln w="12700">
            <a:solidFill>
              <a:srgbClr val="0D9488"/>
            </a:solidFill>
            <a:prstDash val="solid"/>
          </a:ln>
        </p:spPr>
      </p:sp>
      <p:sp>
        <p:nvSpPr>
          <p:cNvPr id="33" name="Shape 28"/>
          <p:cNvSpPr/>
          <p:nvPr/>
        </p:nvSpPr>
        <p:spPr>
          <a:xfrm>
            <a:off x="594360" y="3246120"/>
            <a:ext cx="548640" cy="548640"/>
          </a:xfrm>
          <a:prstGeom prst="ellipse">
            <a:avLst/>
          </a:prstGeom>
          <a:solidFill>
            <a:srgbClr val="CCFBF1"/>
          </a:solidFill>
          <a:ln w="12700">
            <a:solidFill>
              <a:srgbClr val="CCFBF1"/>
            </a:solidFill>
            <a:prstDash val="solid"/>
          </a:ln>
        </p:spPr>
      </p:sp>
      <p:pic>
        <p:nvPicPr>
          <p:cNvPr id="34" name="Image 3" descr="preencoded.png">    </p:cNvPr>
          <p:cNvPicPr>
            <a:picLocks noChangeAspect="1"/>
          </p:cNvPicPr>
          <p:nvPr/>
        </p:nvPicPr>
        <p:blipFill>
          <a:blip r:embed="rId4"/>
          <a:stretch>
            <a:fillRect/>
          </a:stretch>
        </p:blipFill>
        <p:spPr>
          <a:xfrm>
            <a:off x="694944" y="3346704"/>
            <a:ext cx="347472" cy="347472"/>
          </a:xfrm>
          <a:prstGeom prst="rect">
            <a:avLst/>
          </a:prstGeom>
        </p:spPr>
      </p:pic>
      <p:sp>
        <p:nvSpPr>
          <p:cNvPr id="35" name="Text 29"/>
          <p:cNvSpPr/>
          <p:nvPr/>
        </p:nvSpPr>
        <p:spPr>
          <a:xfrm>
            <a:off x="1234440" y="3218688"/>
            <a:ext cx="1737360" cy="32004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Revisions Manager</a:t>
            </a:r>
            <a:endParaRPr lang="en-US" sz="1500" dirty="0"/>
          </a:p>
        </p:txBody>
      </p:sp>
      <p:sp>
        <p:nvSpPr>
          <p:cNvPr id="36" name="Text 30"/>
          <p:cNvSpPr/>
          <p:nvPr/>
        </p:nvSpPr>
        <p:spPr>
          <a:xfrm>
            <a:off x="1234440" y="3520440"/>
            <a:ext cx="1737360" cy="5029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Side-by-side revision and sheet management with cloud finder</a:t>
            </a:r>
            <a:endParaRPr lang="en-US" sz="1000" dirty="0"/>
          </a:p>
        </p:txBody>
      </p:sp>
      <p:sp>
        <p:nvSpPr>
          <p:cNvPr id="37" name="Shape 31"/>
          <p:cNvSpPr/>
          <p:nvPr/>
        </p:nvSpPr>
        <p:spPr>
          <a:xfrm>
            <a:off x="594360" y="4114800"/>
            <a:ext cx="1188720" cy="292608"/>
          </a:xfrm>
          <a:prstGeom prst="roundRect">
            <a:avLst>
              <a:gd name="adj" fmla="val 15625"/>
            </a:avLst>
          </a:prstGeom>
          <a:solidFill>
            <a:srgbClr val="FFEDD5"/>
          </a:solidFill>
          <a:ln w="12700">
            <a:solidFill>
              <a:srgbClr val="FFEDD5"/>
            </a:solidFill>
            <a:prstDash val="solid"/>
          </a:ln>
        </p:spPr>
      </p:sp>
      <p:sp>
        <p:nvSpPr>
          <p:cNvPr id="38" name="Text 32"/>
          <p:cNvSpPr/>
          <p:nvPr/>
        </p:nvSpPr>
        <p:spPr>
          <a:xfrm>
            <a:off x="594360" y="4114800"/>
            <a:ext cx="1188720" cy="292608"/>
          </a:xfrm>
          <a:prstGeom prst="rect">
            <a:avLst/>
          </a:prstGeom>
          <a:noFill/>
          <a:ln/>
        </p:spPr>
        <p:txBody>
          <a:bodyPr wrap="square" lIns="0" tIns="0" rIns="0" bIns="0" rtlCol="0" anchor="ctr"/>
          <a:lstStyle/>
          <a:p>
            <a:pPr algn="ctr" indent="0" marL="0">
              <a:buNone/>
            </a:pPr>
            <a:r>
              <a:rPr lang="en-US" sz="1000" b="1" dirty="0">
                <a:solidFill>
                  <a:srgbClr val="EA580C"/>
                </a:solidFill>
                <a:latin typeface="Calibri" pitchFamily="34" charset="0"/>
                <a:ea typeface="Calibri" pitchFamily="34" charset="-122"/>
                <a:cs typeface="Calibri" pitchFamily="34" charset="-120"/>
              </a:rPr>
              <a:t>~1h saved</a:t>
            </a:r>
            <a:endParaRPr lang="en-US" sz="1000" dirty="0"/>
          </a:p>
        </p:txBody>
      </p:sp>
      <p:sp>
        <p:nvSpPr>
          <p:cNvPr id="39" name="Text 33"/>
          <p:cNvSpPr/>
          <p:nvPr/>
        </p:nvSpPr>
        <p:spPr>
          <a:xfrm>
            <a:off x="1828800" y="4114800"/>
            <a:ext cx="1143000" cy="29260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every issue / addendum</a:t>
            </a:r>
            <a:endParaRPr lang="en-US" sz="900" dirty="0"/>
          </a:p>
        </p:txBody>
      </p:sp>
      <p:sp>
        <p:nvSpPr>
          <p:cNvPr id="40" name="Shape 34"/>
          <p:cNvSpPr/>
          <p:nvPr/>
        </p:nvSpPr>
        <p:spPr>
          <a:xfrm>
            <a:off x="3154680" y="3017520"/>
            <a:ext cx="2697480" cy="1508760"/>
          </a:xfrm>
          <a:prstGeom prst="rect">
            <a:avLst/>
          </a:prstGeom>
          <a:solidFill>
            <a:srgbClr val="FFFFFF"/>
          </a:solidFill>
          <a:ln w="12700">
            <a:solidFill>
              <a:srgbClr val="E2E8F0"/>
            </a:solidFill>
            <a:prstDash val="solid"/>
          </a:ln>
          <a:effectLst>
            <a:outerShdw sx="100000" sy="100000" kx="0" ky="0" algn="bl" rotWithShape="0" blurRad="76200" dist="12700" dir="5400000">
              <a:srgbClr val="000000">
                <a:alpha val="6000"/>
              </a:srgbClr>
            </a:outerShdw>
          </a:effectLst>
        </p:spPr>
      </p:sp>
      <p:sp>
        <p:nvSpPr>
          <p:cNvPr id="41" name="Shape 35"/>
          <p:cNvSpPr/>
          <p:nvPr/>
        </p:nvSpPr>
        <p:spPr>
          <a:xfrm>
            <a:off x="3154680" y="3017520"/>
            <a:ext cx="64008" cy="1508760"/>
          </a:xfrm>
          <a:prstGeom prst="rect">
            <a:avLst/>
          </a:prstGeom>
          <a:solidFill>
            <a:srgbClr val="0D9488"/>
          </a:solidFill>
          <a:ln w="12700">
            <a:solidFill>
              <a:srgbClr val="0D9488"/>
            </a:solidFill>
            <a:prstDash val="solid"/>
          </a:ln>
        </p:spPr>
      </p:sp>
      <p:sp>
        <p:nvSpPr>
          <p:cNvPr id="42" name="Shape 36"/>
          <p:cNvSpPr/>
          <p:nvPr/>
        </p:nvSpPr>
        <p:spPr>
          <a:xfrm>
            <a:off x="3383280" y="3246120"/>
            <a:ext cx="548640" cy="548640"/>
          </a:xfrm>
          <a:prstGeom prst="ellipse">
            <a:avLst/>
          </a:prstGeom>
          <a:solidFill>
            <a:srgbClr val="CCFBF1"/>
          </a:solidFill>
          <a:ln w="12700">
            <a:solidFill>
              <a:srgbClr val="CCFBF1"/>
            </a:solidFill>
            <a:prstDash val="solid"/>
          </a:ln>
        </p:spPr>
      </p:sp>
      <p:pic>
        <p:nvPicPr>
          <p:cNvPr id="43" name="Image 4" descr="preencoded.png">    </p:cNvPr>
          <p:cNvPicPr>
            <a:picLocks noChangeAspect="1"/>
          </p:cNvPicPr>
          <p:nvPr/>
        </p:nvPicPr>
        <p:blipFill>
          <a:blip r:embed="rId5"/>
          <a:stretch>
            <a:fillRect/>
          </a:stretch>
        </p:blipFill>
        <p:spPr>
          <a:xfrm>
            <a:off x="3483864" y="3346704"/>
            <a:ext cx="347472" cy="347472"/>
          </a:xfrm>
          <a:prstGeom prst="rect">
            <a:avLst/>
          </a:prstGeom>
        </p:spPr>
      </p:pic>
      <p:sp>
        <p:nvSpPr>
          <p:cNvPr id="44" name="Text 37"/>
          <p:cNvSpPr/>
          <p:nvPr/>
        </p:nvSpPr>
        <p:spPr>
          <a:xfrm>
            <a:off x="4023360" y="3218688"/>
            <a:ext cx="1737360" cy="32004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View Range Helper</a:t>
            </a:r>
            <a:endParaRPr lang="en-US" sz="1500" dirty="0"/>
          </a:p>
        </p:txBody>
      </p:sp>
      <p:sp>
        <p:nvSpPr>
          <p:cNvPr id="45" name="Text 38"/>
          <p:cNvSpPr/>
          <p:nvPr/>
        </p:nvSpPr>
        <p:spPr>
          <a:xfrm>
            <a:off x="4023360" y="3520440"/>
            <a:ext cx="1737360" cy="5029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Visualize and edit view range with live plan + section preview</a:t>
            </a:r>
            <a:endParaRPr lang="en-US" sz="1000" dirty="0"/>
          </a:p>
        </p:txBody>
      </p:sp>
      <p:sp>
        <p:nvSpPr>
          <p:cNvPr id="46" name="Shape 39"/>
          <p:cNvSpPr/>
          <p:nvPr/>
        </p:nvSpPr>
        <p:spPr>
          <a:xfrm>
            <a:off x="3383280" y="4114800"/>
            <a:ext cx="1188720" cy="292608"/>
          </a:xfrm>
          <a:prstGeom prst="roundRect">
            <a:avLst>
              <a:gd name="adj" fmla="val 15625"/>
            </a:avLst>
          </a:prstGeom>
          <a:solidFill>
            <a:srgbClr val="FFEDD5"/>
          </a:solidFill>
          <a:ln w="12700">
            <a:solidFill>
              <a:srgbClr val="FFEDD5"/>
            </a:solidFill>
            <a:prstDash val="solid"/>
          </a:ln>
        </p:spPr>
      </p:sp>
      <p:sp>
        <p:nvSpPr>
          <p:cNvPr id="47" name="Text 40"/>
          <p:cNvSpPr/>
          <p:nvPr/>
        </p:nvSpPr>
        <p:spPr>
          <a:xfrm>
            <a:off x="3383280" y="4114800"/>
            <a:ext cx="1188720" cy="292608"/>
          </a:xfrm>
          <a:prstGeom prst="rect">
            <a:avLst/>
          </a:prstGeom>
          <a:noFill/>
          <a:ln/>
        </p:spPr>
        <p:txBody>
          <a:bodyPr wrap="square" lIns="0" tIns="0" rIns="0" bIns="0" rtlCol="0" anchor="ctr"/>
          <a:lstStyle/>
          <a:p>
            <a:pPr algn="ctr" indent="0" marL="0">
              <a:buNone/>
            </a:pPr>
            <a:r>
              <a:rPr lang="en-US" sz="1000" b="1" dirty="0">
                <a:solidFill>
                  <a:srgbClr val="EA580C"/>
                </a:solidFill>
                <a:latin typeface="Calibri" pitchFamily="34" charset="0"/>
                <a:ea typeface="Calibri" pitchFamily="34" charset="-122"/>
                <a:cs typeface="Calibri" pitchFamily="34" charset="-120"/>
              </a:rPr>
              <a:t>~0.5h saved</a:t>
            </a:r>
            <a:endParaRPr lang="en-US" sz="1000" dirty="0"/>
          </a:p>
        </p:txBody>
      </p:sp>
      <p:sp>
        <p:nvSpPr>
          <p:cNvPr id="48" name="Text 41"/>
          <p:cNvSpPr/>
          <p:nvPr/>
        </p:nvSpPr>
        <p:spPr>
          <a:xfrm>
            <a:off x="4617720" y="4114800"/>
            <a:ext cx="1143000" cy="29260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every problem view</a:t>
            </a:r>
            <a:endParaRPr lang="en-US" sz="900" dirty="0"/>
          </a:p>
        </p:txBody>
      </p:sp>
      <p:sp>
        <p:nvSpPr>
          <p:cNvPr id="49" name="Shape 42"/>
          <p:cNvSpPr/>
          <p:nvPr/>
        </p:nvSpPr>
        <p:spPr>
          <a:xfrm>
            <a:off x="5943600" y="3017520"/>
            <a:ext cx="2697480" cy="1508760"/>
          </a:xfrm>
          <a:prstGeom prst="rect">
            <a:avLst/>
          </a:prstGeom>
          <a:solidFill>
            <a:srgbClr val="FFFFFF"/>
          </a:solidFill>
          <a:ln w="12700">
            <a:solidFill>
              <a:srgbClr val="E2E8F0"/>
            </a:solidFill>
            <a:prstDash val="solid"/>
          </a:ln>
          <a:effectLst>
            <a:outerShdw sx="100000" sy="100000" kx="0" ky="0" algn="bl" rotWithShape="0" blurRad="76200" dist="12700" dir="5400000">
              <a:srgbClr val="000000">
                <a:alpha val="6000"/>
              </a:srgbClr>
            </a:outerShdw>
          </a:effectLst>
        </p:spPr>
      </p:sp>
      <p:sp>
        <p:nvSpPr>
          <p:cNvPr id="50" name="Shape 43"/>
          <p:cNvSpPr/>
          <p:nvPr/>
        </p:nvSpPr>
        <p:spPr>
          <a:xfrm>
            <a:off x="5943600" y="3017520"/>
            <a:ext cx="64008" cy="1508760"/>
          </a:xfrm>
          <a:prstGeom prst="rect">
            <a:avLst/>
          </a:prstGeom>
          <a:solidFill>
            <a:srgbClr val="0D9488"/>
          </a:solidFill>
          <a:ln w="12700">
            <a:solidFill>
              <a:srgbClr val="0D9488"/>
            </a:solidFill>
            <a:prstDash val="solid"/>
          </a:ln>
        </p:spPr>
      </p:sp>
      <p:sp>
        <p:nvSpPr>
          <p:cNvPr id="51" name="Shape 44"/>
          <p:cNvSpPr/>
          <p:nvPr/>
        </p:nvSpPr>
        <p:spPr>
          <a:xfrm>
            <a:off x="6172200" y="3246120"/>
            <a:ext cx="548640" cy="548640"/>
          </a:xfrm>
          <a:prstGeom prst="ellipse">
            <a:avLst/>
          </a:prstGeom>
          <a:solidFill>
            <a:srgbClr val="CCFBF1"/>
          </a:solidFill>
          <a:ln w="12700">
            <a:solidFill>
              <a:srgbClr val="CCFBF1"/>
            </a:solidFill>
            <a:prstDash val="solid"/>
          </a:ln>
        </p:spPr>
      </p:sp>
      <p:pic>
        <p:nvPicPr>
          <p:cNvPr id="52" name="Image 5" descr="preencoded.png">    </p:cNvPr>
          <p:cNvPicPr>
            <a:picLocks noChangeAspect="1"/>
          </p:cNvPicPr>
          <p:nvPr/>
        </p:nvPicPr>
        <p:blipFill>
          <a:blip r:embed="rId6"/>
          <a:stretch>
            <a:fillRect/>
          </a:stretch>
        </p:blipFill>
        <p:spPr>
          <a:xfrm>
            <a:off x="6272784" y="3346704"/>
            <a:ext cx="347472" cy="347472"/>
          </a:xfrm>
          <a:prstGeom prst="rect">
            <a:avLst/>
          </a:prstGeom>
        </p:spPr>
      </p:pic>
      <p:sp>
        <p:nvSpPr>
          <p:cNvPr id="53" name="Text 45"/>
          <p:cNvSpPr/>
          <p:nvPr/>
        </p:nvSpPr>
        <p:spPr>
          <a:xfrm>
            <a:off x="6812280" y="3218688"/>
            <a:ext cx="1737360" cy="32004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View Templates Manager</a:t>
            </a:r>
            <a:endParaRPr lang="en-US" sz="1500" dirty="0"/>
          </a:p>
        </p:txBody>
      </p:sp>
      <p:sp>
        <p:nvSpPr>
          <p:cNvPr id="54" name="Text 46"/>
          <p:cNvSpPr/>
          <p:nvPr/>
        </p:nvSpPr>
        <p:spPr>
          <a:xfrm>
            <a:off x="6812280" y="3520440"/>
            <a:ext cx="1737360" cy="5029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All-in-one view template editor with bulk-edit mode</a:t>
            </a:r>
            <a:endParaRPr lang="en-US" sz="1000" dirty="0"/>
          </a:p>
        </p:txBody>
      </p:sp>
      <p:sp>
        <p:nvSpPr>
          <p:cNvPr id="55" name="Shape 47"/>
          <p:cNvSpPr/>
          <p:nvPr/>
        </p:nvSpPr>
        <p:spPr>
          <a:xfrm>
            <a:off x="6172200" y="4114800"/>
            <a:ext cx="1188720" cy="292608"/>
          </a:xfrm>
          <a:prstGeom prst="roundRect">
            <a:avLst>
              <a:gd name="adj" fmla="val 15625"/>
            </a:avLst>
          </a:prstGeom>
          <a:solidFill>
            <a:srgbClr val="FFEDD5"/>
          </a:solidFill>
          <a:ln w="12700">
            <a:solidFill>
              <a:srgbClr val="FFEDD5"/>
            </a:solidFill>
            <a:prstDash val="solid"/>
          </a:ln>
        </p:spPr>
      </p:sp>
      <p:sp>
        <p:nvSpPr>
          <p:cNvPr id="56" name="Text 48"/>
          <p:cNvSpPr/>
          <p:nvPr/>
        </p:nvSpPr>
        <p:spPr>
          <a:xfrm>
            <a:off x="6172200" y="4114800"/>
            <a:ext cx="1188720" cy="292608"/>
          </a:xfrm>
          <a:prstGeom prst="rect">
            <a:avLst/>
          </a:prstGeom>
          <a:noFill/>
          <a:ln/>
        </p:spPr>
        <p:txBody>
          <a:bodyPr wrap="square" lIns="0" tIns="0" rIns="0" bIns="0" rtlCol="0" anchor="ctr"/>
          <a:lstStyle/>
          <a:p>
            <a:pPr algn="ctr" indent="0" marL="0">
              <a:buNone/>
            </a:pPr>
            <a:r>
              <a:rPr lang="en-US" sz="1000" b="1" dirty="0">
                <a:solidFill>
                  <a:srgbClr val="EA580C"/>
                </a:solidFill>
                <a:latin typeface="Calibri" pitchFamily="34" charset="0"/>
                <a:ea typeface="Calibri" pitchFamily="34" charset="-122"/>
                <a:cs typeface="Calibri" pitchFamily="34" charset="-120"/>
              </a:rPr>
              <a:t>~1h saved</a:t>
            </a:r>
            <a:endParaRPr lang="en-US" sz="1000" dirty="0"/>
          </a:p>
        </p:txBody>
      </p:sp>
      <p:sp>
        <p:nvSpPr>
          <p:cNvPr id="57" name="Text 49"/>
          <p:cNvSpPr/>
          <p:nvPr/>
        </p:nvSpPr>
        <p:spPr>
          <a:xfrm>
            <a:off x="7406640" y="4114800"/>
            <a:ext cx="1143000" cy="29260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every standards refresh</a:t>
            </a:r>
            <a:endParaRPr lang="en-US" sz="900" dirty="0"/>
          </a:p>
        </p:txBody>
      </p:sp>
      <p:sp>
        <p:nvSpPr>
          <p:cNvPr id="58" name="Text 50"/>
          <p:cNvSpPr/>
          <p:nvPr/>
        </p:nvSpPr>
        <p:spPr>
          <a:xfrm>
            <a:off x="365760" y="4846320"/>
            <a:ext cx="3657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Part 1 · Tools that boost productivity</a:t>
            </a:r>
            <a:endParaRPr lang="en-US" sz="900" dirty="0"/>
          </a:p>
        </p:txBody>
      </p:sp>
      <p:sp>
        <p:nvSpPr>
          <p:cNvPr id="59" name="Text 51"/>
          <p:cNvSpPr/>
          <p:nvPr/>
        </p:nvSpPr>
        <p:spPr>
          <a:xfrm>
            <a:off x="5120640" y="4846320"/>
            <a:ext cx="3108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dbHMS  ·  Nathan Raab</a:t>
            </a:r>
            <a:endParaRPr lang="en-US" sz="900" dirty="0"/>
          </a:p>
        </p:txBody>
      </p:sp>
      <p:sp>
        <p:nvSpPr>
          <p:cNvPr id="60" name="Text 52"/>
          <p:cNvSpPr/>
          <p:nvPr/>
        </p:nvSpPr>
        <p:spPr>
          <a:xfrm>
            <a:off x="8412480" y="4846320"/>
            <a:ext cx="54864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48640" cy="548640"/>
          </a:xfrm>
          <a:prstGeom prst="ellipse">
            <a:avLst/>
          </a:prstGeom>
          <a:solidFill>
            <a:srgbClr val="0D9488"/>
          </a:solidFill>
          <a:ln w="12700">
            <a:solidFill>
              <a:srgbClr val="0D9488"/>
            </a:solidFill>
            <a:prstDash val="solid"/>
          </a:ln>
        </p:spPr>
      </p:sp>
      <p:pic>
        <p:nvPicPr>
          <p:cNvPr id="3" name="Image 0" descr="preencoded.png">    </p:cNvPr>
          <p:cNvPicPr>
            <a:picLocks noChangeAspect="1"/>
          </p:cNvPicPr>
          <p:nvPr/>
        </p:nvPicPr>
        <p:blipFill>
          <a:blip r:embed="rId1"/>
          <a:stretch>
            <a:fillRect/>
          </a:stretch>
        </p:blipFill>
        <p:spPr>
          <a:xfrm>
            <a:off x="603504" y="484632"/>
            <a:ext cx="347472" cy="347472"/>
          </a:xfrm>
          <a:prstGeom prst="rect">
            <a:avLst/>
          </a:prstGeom>
        </p:spPr>
      </p:pic>
      <p:sp>
        <p:nvSpPr>
          <p:cNvPr id="4" name="Text 1"/>
          <p:cNvSpPr/>
          <p:nvPr/>
        </p:nvSpPr>
        <p:spPr>
          <a:xfrm>
            <a:off x="1143000" y="365760"/>
            <a:ext cx="6400800" cy="45720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Sheet Setup</a:t>
            </a:r>
            <a:endParaRPr lang="en-US" sz="2800" dirty="0"/>
          </a:p>
        </p:txBody>
      </p:sp>
      <p:sp>
        <p:nvSpPr>
          <p:cNvPr id="5" name="Text 2"/>
          <p:cNvSpPr/>
          <p:nvPr/>
        </p:nvSpPr>
        <p:spPr>
          <a:xfrm>
            <a:off x="1143000" y="777240"/>
            <a:ext cx="6400800" cy="27432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One-click MEP project sheet &amp; view scaffolding</a:t>
            </a:r>
            <a:endParaRPr lang="en-US" sz="1200" dirty="0"/>
          </a:p>
        </p:txBody>
      </p:sp>
      <p:sp>
        <p:nvSpPr>
          <p:cNvPr id="6" name="Shape 3"/>
          <p:cNvSpPr/>
          <p:nvPr/>
        </p:nvSpPr>
        <p:spPr>
          <a:xfrm>
            <a:off x="7223760" y="384048"/>
            <a:ext cx="1554480" cy="640080"/>
          </a:xfrm>
          <a:prstGeom prst="roundRect">
            <a:avLst>
              <a:gd name="adj" fmla="val 11429"/>
            </a:avLst>
          </a:prstGeom>
          <a:solidFill>
            <a:srgbClr val="FFEDD5"/>
          </a:solidFill>
          <a:ln w="12700">
            <a:solidFill>
              <a:srgbClr val="FFEDD5"/>
            </a:solidFill>
            <a:prstDash val="solid"/>
          </a:ln>
        </p:spPr>
      </p:sp>
      <p:pic>
        <p:nvPicPr>
          <p:cNvPr id="7" name="Image 1" descr="preencoded.png">    </p:cNvPr>
          <p:cNvPicPr>
            <a:picLocks noChangeAspect="1"/>
          </p:cNvPicPr>
          <p:nvPr/>
        </p:nvPicPr>
        <p:blipFill>
          <a:blip r:embed="rId2"/>
          <a:stretch>
            <a:fillRect/>
          </a:stretch>
        </p:blipFill>
        <p:spPr>
          <a:xfrm>
            <a:off x="7315200" y="548640"/>
            <a:ext cx="310896" cy="310896"/>
          </a:xfrm>
          <a:prstGeom prst="rect">
            <a:avLst/>
          </a:prstGeom>
        </p:spPr>
      </p:pic>
      <p:sp>
        <p:nvSpPr>
          <p:cNvPr id="8" name="Text 4"/>
          <p:cNvSpPr/>
          <p:nvPr/>
        </p:nvSpPr>
        <p:spPr>
          <a:xfrm>
            <a:off x="7680960" y="384048"/>
            <a:ext cx="1097280" cy="411480"/>
          </a:xfrm>
          <a:prstGeom prst="rect">
            <a:avLst/>
          </a:prstGeom>
          <a:noFill/>
          <a:ln/>
        </p:spPr>
        <p:txBody>
          <a:bodyPr wrap="square" lIns="0" tIns="0" rIns="0" bIns="0" rtlCol="0" anchor="ctr"/>
          <a:lstStyle/>
          <a:p>
            <a:pPr algn="ctr" indent="0" marL="0">
              <a:buNone/>
            </a:pPr>
            <a:r>
              <a:rPr lang="en-US" sz="2200" b="1" dirty="0">
                <a:solidFill>
                  <a:srgbClr val="EA580C"/>
                </a:solidFill>
                <a:latin typeface="Georgia" pitchFamily="34" charset="0"/>
                <a:ea typeface="Georgia" pitchFamily="34" charset="-122"/>
                <a:cs typeface="Georgia" pitchFamily="34" charset="-120"/>
              </a:rPr>
              <a:t>~6h</a:t>
            </a:r>
            <a:endParaRPr lang="en-US" sz="2200" dirty="0"/>
          </a:p>
        </p:txBody>
      </p:sp>
      <p:sp>
        <p:nvSpPr>
          <p:cNvPr id="9" name="Text 5"/>
          <p:cNvSpPr/>
          <p:nvPr/>
        </p:nvSpPr>
        <p:spPr>
          <a:xfrm>
            <a:off x="7315200" y="777240"/>
            <a:ext cx="1463040" cy="228600"/>
          </a:xfrm>
          <a:prstGeom prst="rect">
            <a:avLst/>
          </a:prstGeom>
          <a:noFill/>
          <a:ln/>
        </p:spPr>
        <p:txBody>
          <a:bodyPr wrap="square" lIns="0" tIns="0" rIns="0" bIns="0" rtlCol="0" anchor="ctr"/>
          <a:lstStyle/>
          <a:p>
            <a:pPr algn="ctr" indent="0" marL="0">
              <a:buNone/>
            </a:pPr>
            <a:r>
              <a:rPr lang="en-US" sz="900" dirty="0">
                <a:solidFill>
                  <a:srgbClr val="EA580C"/>
                </a:solidFill>
                <a:latin typeface="Calibri" pitchFamily="34" charset="0"/>
                <a:ea typeface="Calibri" pitchFamily="34" charset="-122"/>
                <a:cs typeface="Calibri" pitchFamily="34" charset="-120"/>
              </a:rPr>
              <a:t>per project</a:t>
            </a:r>
            <a:endParaRPr lang="en-US" sz="900" dirty="0"/>
          </a:p>
        </p:txBody>
      </p:sp>
      <p:sp>
        <p:nvSpPr>
          <p:cNvPr id="10" name="Shape 6"/>
          <p:cNvSpPr/>
          <p:nvPr/>
        </p:nvSpPr>
        <p:spPr>
          <a:xfrm>
            <a:off x="457200" y="1280160"/>
            <a:ext cx="3749040" cy="365760"/>
          </a:xfrm>
          <a:prstGeom prst="rect">
            <a:avLst/>
          </a:prstGeom>
          <a:solidFill>
            <a:srgbClr val="FEE2E2"/>
          </a:solidFill>
          <a:ln w="12700">
            <a:solidFill>
              <a:srgbClr val="FEE2E2"/>
            </a:solidFill>
            <a:prstDash val="solid"/>
          </a:ln>
        </p:spPr>
      </p:sp>
      <p:sp>
        <p:nvSpPr>
          <p:cNvPr id="11" name="Text 7"/>
          <p:cNvSpPr/>
          <p:nvPr/>
        </p:nvSpPr>
        <p:spPr>
          <a:xfrm>
            <a:off x="594360" y="1280160"/>
            <a:ext cx="3474720" cy="365760"/>
          </a:xfrm>
          <a:prstGeom prst="rect">
            <a:avLst/>
          </a:prstGeom>
          <a:noFill/>
          <a:ln/>
        </p:spPr>
        <p:txBody>
          <a:bodyPr wrap="square" lIns="0" tIns="0" rIns="0" bIns="0" rtlCol="0" anchor="ctr"/>
          <a:lstStyle/>
          <a:p>
            <a:pPr indent="0" marL="0">
              <a:buNone/>
            </a:pPr>
            <a:r>
              <a:rPr lang="en-US" sz="1100" b="1" spc="400" kern="0" dirty="0">
                <a:solidFill>
                  <a:srgbClr val="B91C1C"/>
                </a:solidFill>
                <a:latin typeface="Calibri" pitchFamily="34" charset="0"/>
                <a:ea typeface="Calibri" pitchFamily="34" charset="-122"/>
                <a:cs typeface="Calibri" pitchFamily="34" charset="-120"/>
              </a:rPr>
              <a:t>BEFORE</a:t>
            </a:r>
            <a:endParaRPr lang="en-US" sz="1100" dirty="0"/>
          </a:p>
        </p:txBody>
      </p:sp>
      <p:sp>
        <p:nvSpPr>
          <p:cNvPr id="12" name="Shape 8"/>
          <p:cNvSpPr/>
          <p:nvPr/>
        </p:nvSpPr>
        <p:spPr>
          <a:xfrm>
            <a:off x="4937760" y="1280160"/>
            <a:ext cx="3749040" cy="365760"/>
          </a:xfrm>
          <a:prstGeom prst="rect">
            <a:avLst/>
          </a:prstGeom>
          <a:solidFill>
            <a:srgbClr val="CCFBF1"/>
          </a:solidFill>
          <a:ln w="12700">
            <a:solidFill>
              <a:srgbClr val="CCFBF1"/>
            </a:solidFill>
            <a:prstDash val="solid"/>
          </a:ln>
        </p:spPr>
      </p:sp>
      <p:sp>
        <p:nvSpPr>
          <p:cNvPr id="13" name="Text 9"/>
          <p:cNvSpPr/>
          <p:nvPr/>
        </p:nvSpPr>
        <p:spPr>
          <a:xfrm>
            <a:off x="5074920" y="1280160"/>
            <a:ext cx="3474720" cy="365760"/>
          </a:xfrm>
          <a:prstGeom prst="rect">
            <a:avLst/>
          </a:prstGeom>
          <a:noFill/>
          <a:ln/>
        </p:spPr>
        <p:txBody>
          <a:bodyPr wrap="square" lIns="0" tIns="0" rIns="0" bIns="0" rtlCol="0" anchor="ctr"/>
          <a:lstStyle/>
          <a:p>
            <a:pPr indent="0" marL="0">
              <a:buNone/>
            </a:pPr>
            <a:r>
              <a:rPr lang="en-US" sz="1100" b="1" spc="400" kern="0" dirty="0">
                <a:solidFill>
                  <a:srgbClr val="115E59"/>
                </a:solidFill>
                <a:latin typeface="Calibri" pitchFamily="34" charset="0"/>
                <a:ea typeface="Calibri" pitchFamily="34" charset="-122"/>
                <a:cs typeface="Calibri" pitchFamily="34" charset="-120"/>
              </a:rPr>
              <a:t>WITH THE TOOL</a:t>
            </a:r>
            <a:endParaRPr lang="en-US" sz="1100" dirty="0"/>
          </a:p>
        </p:txBody>
      </p:sp>
      <p:sp>
        <p:nvSpPr>
          <p:cNvPr id="14" name="Shape 10"/>
          <p:cNvSpPr/>
          <p:nvPr/>
        </p:nvSpPr>
        <p:spPr>
          <a:xfrm>
            <a:off x="4370832" y="2400300"/>
            <a:ext cx="402336" cy="411480"/>
          </a:xfrm>
          <a:prstGeom prst="rightArrow">
            <a:avLst/>
          </a:prstGeom>
          <a:solidFill>
            <a:srgbClr val="0D9488"/>
          </a:solidFill>
          <a:ln w="12700">
            <a:solidFill>
              <a:srgbClr val="0D9488"/>
            </a:solidFill>
            <a:prstDash val="solid"/>
          </a:ln>
        </p:spPr>
      </p:sp>
      <p:sp>
        <p:nvSpPr>
          <p:cNvPr id="15" name="Text 11"/>
          <p:cNvSpPr/>
          <p:nvPr/>
        </p:nvSpPr>
        <p:spPr>
          <a:xfrm>
            <a:off x="457200" y="1737360"/>
            <a:ext cx="3749040" cy="2011680"/>
          </a:xfrm>
          <a:prstGeom prst="rect">
            <a:avLst/>
          </a:prstGeom>
          <a:noFill/>
          <a:ln/>
        </p:spPr>
        <p:txBody>
          <a:bodyPr wrap="square" rtlCol="0" anchor="t"/>
          <a:lstStyle/>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Open every level, manually create floor &amp; ceiling plans</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Apply scope box and view template by hand on each view</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Create sheets, name &amp; number them (E101, M101, P101…)</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Drop each viewport on each sheet, nudge into place</a:t>
            </a:r>
            <a:endParaRPr lang="en-US" sz="1200" dirty="0"/>
          </a:p>
        </p:txBody>
      </p:sp>
      <p:sp>
        <p:nvSpPr>
          <p:cNvPr id="16" name="Text 12"/>
          <p:cNvSpPr/>
          <p:nvPr/>
        </p:nvSpPr>
        <p:spPr>
          <a:xfrm>
            <a:off x="4937760" y="1737360"/>
            <a:ext cx="3749040" cy="2011680"/>
          </a:xfrm>
          <a:prstGeom prst="rect">
            <a:avLst/>
          </a:prstGeom>
          <a:noFill/>
          <a:ln/>
        </p:spPr>
        <p:txBody>
          <a:bodyPr wrap="square"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Pick title block, scope box, levels, disciplines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Tool generates every (level × plan-type) view</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Sheets are auto-numbered to firm standard</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Viewports placed at the same XY on every sheet</a:t>
            </a:r>
            <a:endParaRPr lang="en-US" sz="1200" dirty="0"/>
          </a:p>
        </p:txBody>
      </p:sp>
      <p:sp>
        <p:nvSpPr>
          <p:cNvPr id="17" name="Shape 13"/>
          <p:cNvSpPr/>
          <p:nvPr/>
        </p:nvSpPr>
        <p:spPr>
          <a:xfrm>
            <a:off x="457200" y="3977640"/>
            <a:ext cx="8229600" cy="640080"/>
          </a:xfrm>
          <a:prstGeom prst="rect">
            <a:avLst/>
          </a:prstGeom>
          <a:solidFill>
            <a:srgbClr val="1E293B"/>
          </a:solidFill>
          <a:ln w="12700">
            <a:solidFill>
              <a:srgbClr val="1E293B"/>
            </a:solidFill>
            <a:prstDash val="solid"/>
          </a:ln>
        </p:spPr>
      </p:sp>
      <p:sp>
        <p:nvSpPr>
          <p:cNvPr id="18" name="Shape 14"/>
          <p:cNvSpPr/>
          <p:nvPr/>
        </p:nvSpPr>
        <p:spPr>
          <a:xfrm>
            <a:off x="457200" y="3977640"/>
            <a:ext cx="73152" cy="640080"/>
          </a:xfrm>
          <a:prstGeom prst="rect">
            <a:avLst/>
          </a:prstGeom>
          <a:solidFill>
            <a:srgbClr val="EA580C"/>
          </a:solidFill>
          <a:ln w="12700">
            <a:solidFill>
              <a:srgbClr val="EA580C"/>
            </a:solidFill>
            <a:prstDash val="solid"/>
          </a:ln>
        </p:spPr>
      </p:sp>
      <p:sp>
        <p:nvSpPr>
          <p:cNvPr id="19" name="Text 15"/>
          <p:cNvSpPr/>
          <p:nvPr/>
        </p:nvSpPr>
        <p:spPr>
          <a:xfrm>
            <a:off x="685800" y="3977640"/>
            <a:ext cx="7863840" cy="640080"/>
          </a:xfrm>
          <a:prstGeom prst="rect">
            <a:avLst/>
          </a:prstGeom>
          <a:noFill/>
          <a:ln/>
        </p:spPr>
        <p:txBody>
          <a:bodyPr wrap="square" lIns="0" tIns="0" rIns="0" bIns="0" rtlCol="0" anchor="ctr"/>
          <a:lstStyle/>
          <a:p>
            <a:pPr indent="0" marL="0">
              <a:buNone/>
            </a:pPr>
            <a:r>
              <a:rPr lang="en-US" sz="1200" b="1" dirty="0">
                <a:solidFill>
                  <a:srgbClr val="EA580C"/>
                </a:solidFill>
                <a:latin typeface="Calibri" pitchFamily="34" charset="0"/>
                <a:ea typeface="Calibri" pitchFamily="34" charset="-122"/>
                <a:cs typeface="Calibri" pitchFamily="34" charset="-120"/>
              </a:rPr>
              <a:t>Why it matters: </a:t>
            </a:r>
            <a:pPr indent="0" marL="0">
              <a:buNone/>
            </a:pPr>
            <a:r>
              <a:rPr lang="en-US" sz="1200" dirty="0">
                <a:solidFill>
                  <a:srgbClr val="FFFFFF"/>
                </a:solidFill>
                <a:latin typeface="Calibri" pitchFamily="34" charset="0"/>
                <a:ea typeface="Calibri" pitchFamily="34" charset="-122"/>
                <a:cs typeface="Calibri" pitchFamily="34" charset="-120"/>
              </a:rPr>
              <a:t>The biggest single block of work at the start of a project — gone in under a minute.</a:t>
            </a:r>
            <a:endParaRPr lang="en-US" sz="1200" dirty="0"/>
          </a:p>
        </p:txBody>
      </p:sp>
      <p:sp>
        <p:nvSpPr>
          <p:cNvPr id="20" name="Text 16"/>
          <p:cNvSpPr/>
          <p:nvPr/>
        </p:nvSpPr>
        <p:spPr>
          <a:xfrm>
            <a:off x="365760" y="4846320"/>
            <a:ext cx="3657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Part 1 · Tools that boost productivity</a:t>
            </a:r>
            <a:endParaRPr lang="en-US" sz="900" dirty="0"/>
          </a:p>
        </p:txBody>
      </p:sp>
      <p:sp>
        <p:nvSpPr>
          <p:cNvPr id="21" name="Text 17"/>
          <p:cNvSpPr/>
          <p:nvPr/>
        </p:nvSpPr>
        <p:spPr>
          <a:xfrm>
            <a:off x="5120640" y="4846320"/>
            <a:ext cx="3108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dbHMS  ·  Nathan Raab</a:t>
            </a:r>
            <a:endParaRPr lang="en-US" sz="900" dirty="0"/>
          </a:p>
        </p:txBody>
      </p:sp>
      <p:sp>
        <p:nvSpPr>
          <p:cNvPr id="22" name="Text 18"/>
          <p:cNvSpPr/>
          <p:nvPr/>
        </p:nvSpPr>
        <p:spPr>
          <a:xfrm>
            <a:off x="8412480" y="4846320"/>
            <a:ext cx="54864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48640" cy="548640"/>
          </a:xfrm>
          <a:prstGeom prst="ellipse">
            <a:avLst/>
          </a:prstGeom>
          <a:solidFill>
            <a:srgbClr val="0D9488"/>
          </a:solidFill>
          <a:ln w="12700">
            <a:solidFill>
              <a:srgbClr val="0D9488"/>
            </a:solidFill>
            <a:prstDash val="solid"/>
          </a:ln>
        </p:spPr>
      </p:sp>
      <p:pic>
        <p:nvPicPr>
          <p:cNvPr id="3" name="Image 0" descr="preencoded.png">    </p:cNvPr>
          <p:cNvPicPr>
            <a:picLocks noChangeAspect="1"/>
          </p:cNvPicPr>
          <p:nvPr/>
        </p:nvPicPr>
        <p:blipFill>
          <a:blip r:embed="rId1"/>
          <a:stretch>
            <a:fillRect/>
          </a:stretch>
        </p:blipFill>
        <p:spPr>
          <a:xfrm>
            <a:off x="603504" y="484632"/>
            <a:ext cx="347472" cy="347472"/>
          </a:xfrm>
          <a:prstGeom prst="rect">
            <a:avLst/>
          </a:prstGeom>
        </p:spPr>
      </p:pic>
      <p:sp>
        <p:nvSpPr>
          <p:cNvPr id="4" name="Text 1"/>
          <p:cNvSpPr/>
          <p:nvPr/>
        </p:nvSpPr>
        <p:spPr>
          <a:xfrm>
            <a:off x="1143000" y="365760"/>
            <a:ext cx="6400800" cy="45720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Align Views</a:t>
            </a:r>
            <a:endParaRPr lang="en-US" sz="2800" dirty="0"/>
          </a:p>
        </p:txBody>
      </p:sp>
      <p:sp>
        <p:nvSpPr>
          <p:cNvPr id="5" name="Text 2"/>
          <p:cNvSpPr/>
          <p:nvPr/>
        </p:nvSpPr>
        <p:spPr>
          <a:xfrm>
            <a:off x="1143000" y="777240"/>
            <a:ext cx="6400800" cy="27432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Match viewport position and view title across sheets</a:t>
            </a:r>
            <a:endParaRPr lang="en-US" sz="1200" dirty="0"/>
          </a:p>
        </p:txBody>
      </p:sp>
      <p:sp>
        <p:nvSpPr>
          <p:cNvPr id="6" name="Shape 3"/>
          <p:cNvSpPr/>
          <p:nvPr/>
        </p:nvSpPr>
        <p:spPr>
          <a:xfrm>
            <a:off x="7223760" y="384048"/>
            <a:ext cx="1554480" cy="640080"/>
          </a:xfrm>
          <a:prstGeom prst="roundRect">
            <a:avLst>
              <a:gd name="adj" fmla="val 11429"/>
            </a:avLst>
          </a:prstGeom>
          <a:solidFill>
            <a:srgbClr val="FFEDD5"/>
          </a:solidFill>
          <a:ln w="12700">
            <a:solidFill>
              <a:srgbClr val="FFEDD5"/>
            </a:solidFill>
            <a:prstDash val="solid"/>
          </a:ln>
        </p:spPr>
      </p:sp>
      <p:pic>
        <p:nvPicPr>
          <p:cNvPr id="7" name="Image 1" descr="preencoded.png">    </p:cNvPr>
          <p:cNvPicPr>
            <a:picLocks noChangeAspect="1"/>
          </p:cNvPicPr>
          <p:nvPr/>
        </p:nvPicPr>
        <p:blipFill>
          <a:blip r:embed="rId2"/>
          <a:stretch>
            <a:fillRect/>
          </a:stretch>
        </p:blipFill>
        <p:spPr>
          <a:xfrm>
            <a:off x="7315200" y="548640"/>
            <a:ext cx="310896" cy="310896"/>
          </a:xfrm>
          <a:prstGeom prst="rect">
            <a:avLst/>
          </a:prstGeom>
        </p:spPr>
      </p:pic>
      <p:sp>
        <p:nvSpPr>
          <p:cNvPr id="8" name="Text 4"/>
          <p:cNvSpPr/>
          <p:nvPr/>
        </p:nvSpPr>
        <p:spPr>
          <a:xfrm>
            <a:off x="7680960" y="384048"/>
            <a:ext cx="1097280" cy="411480"/>
          </a:xfrm>
          <a:prstGeom prst="rect">
            <a:avLst/>
          </a:prstGeom>
          <a:noFill/>
          <a:ln/>
        </p:spPr>
        <p:txBody>
          <a:bodyPr wrap="square" lIns="0" tIns="0" rIns="0" bIns="0" rtlCol="0" anchor="ctr"/>
          <a:lstStyle/>
          <a:p>
            <a:pPr algn="ctr" indent="0" marL="0">
              <a:buNone/>
            </a:pPr>
            <a:r>
              <a:rPr lang="en-US" sz="2200" b="1" dirty="0">
                <a:solidFill>
                  <a:srgbClr val="EA580C"/>
                </a:solidFill>
                <a:latin typeface="Georgia" pitchFamily="34" charset="0"/>
                <a:ea typeface="Georgia" pitchFamily="34" charset="-122"/>
                <a:cs typeface="Georgia" pitchFamily="34" charset="-120"/>
              </a:rPr>
              <a:t>~2h</a:t>
            </a:r>
            <a:endParaRPr lang="en-US" sz="2200" dirty="0"/>
          </a:p>
        </p:txBody>
      </p:sp>
      <p:sp>
        <p:nvSpPr>
          <p:cNvPr id="9" name="Text 5"/>
          <p:cNvSpPr/>
          <p:nvPr/>
        </p:nvSpPr>
        <p:spPr>
          <a:xfrm>
            <a:off x="7315200" y="777240"/>
            <a:ext cx="1463040" cy="228600"/>
          </a:xfrm>
          <a:prstGeom prst="rect">
            <a:avLst/>
          </a:prstGeom>
          <a:noFill/>
          <a:ln/>
        </p:spPr>
        <p:txBody>
          <a:bodyPr wrap="square" lIns="0" tIns="0" rIns="0" bIns="0" rtlCol="0" anchor="ctr"/>
          <a:lstStyle/>
          <a:p>
            <a:pPr algn="ctr" indent="0" marL="0">
              <a:buNone/>
            </a:pPr>
            <a:r>
              <a:rPr lang="en-US" sz="900" dirty="0">
                <a:solidFill>
                  <a:srgbClr val="EA580C"/>
                </a:solidFill>
                <a:latin typeface="Calibri" pitchFamily="34" charset="0"/>
                <a:ea typeface="Calibri" pitchFamily="34" charset="-122"/>
                <a:cs typeface="Calibri" pitchFamily="34" charset="-120"/>
              </a:rPr>
              <a:t>per project</a:t>
            </a:r>
            <a:endParaRPr lang="en-US" sz="900" dirty="0"/>
          </a:p>
        </p:txBody>
      </p:sp>
      <p:sp>
        <p:nvSpPr>
          <p:cNvPr id="10" name="Shape 6"/>
          <p:cNvSpPr/>
          <p:nvPr/>
        </p:nvSpPr>
        <p:spPr>
          <a:xfrm>
            <a:off x="457200" y="1280160"/>
            <a:ext cx="3749040" cy="365760"/>
          </a:xfrm>
          <a:prstGeom prst="rect">
            <a:avLst/>
          </a:prstGeom>
          <a:solidFill>
            <a:srgbClr val="FEE2E2"/>
          </a:solidFill>
          <a:ln w="12700">
            <a:solidFill>
              <a:srgbClr val="FEE2E2"/>
            </a:solidFill>
            <a:prstDash val="solid"/>
          </a:ln>
        </p:spPr>
      </p:sp>
      <p:sp>
        <p:nvSpPr>
          <p:cNvPr id="11" name="Text 7"/>
          <p:cNvSpPr/>
          <p:nvPr/>
        </p:nvSpPr>
        <p:spPr>
          <a:xfrm>
            <a:off x="594360" y="1280160"/>
            <a:ext cx="3474720" cy="365760"/>
          </a:xfrm>
          <a:prstGeom prst="rect">
            <a:avLst/>
          </a:prstGeom>
          <a:noFill/>
          <a:ln/>
        </p:spPr>
        <p:txBody>
          <a:bodyPr wrap="square" lIns="0" tIns="0" rIns="0" bIns="0" rtlCol="0" anchor="ctr"/>
          <a:lstStyle/>
          <a:p>
            <a:pPr indent="0" marL="0">
              <a:buNone/>
            </a:pPr>
            <a:r>
              <a:rPr lang="en-US" sz="1100" b="1" spc="400" kern="0" dirty="0">
                <a:solidFill>
                  <a:srgbClr val="B91C1C"/>
                </a:solidFill>
                <a:latin typeface="Calibri" pitchFamily="34" charset="0"/>
                <a:ea typeface="Calibri" pitchFamily="34" charset="-122"/>
                <a:cs typeface="Calibri" pitchFamily="34" charset="-120"/>
              </a:rPr>
              <a:t>BEFORE</a:t>
            </a:r>
            <a:endParaRPr lang="en-US" sz="1100" dirty="0"/>
          </a:p>
        </p:txBody>
      </p:sp>
      <p:sp>
        <p:nvSpPr>
          <p:cNvPr id="12" name="Shape 8"/>
          <p:cNvSpPr/>
          <p:nvPr/>
        </p:nvSpPr>
        <p:spPr>
          <a:xfrm>
            <a:off x="4937760" y="1280160"/>
            <a:ext cx="3749040" cy="365760"/>
          </a:xfrm>
          <a:prstGeom prst="rect">
            <a:avLst/>
          </a:prstGeom>
          <a:solidFill>
            <a:srgbClr val="CCFBF1"/>
          </a:solidFill>
          <a:ln w="12700">
            <a:solidFill>
              <a:srgbClr val="CCFBF1"/>
            </a:solidFill>
            <a:prstDash val="solid"/>
          </a:ln>
        </p:spPr>
      </p:sp>
      <p:sp>
        <p:nvSpPr>
          <p:cNvPr id="13" name="Text 9"/>
          <p:cNvSpPr/>
          <p:nvPr/>
        </p:nvSpPr>
        <p:spPr>
          <a:xfrm>
            <a:off x="5074920" y="1280160"/>
            <a:ext cx="3474720" cy="365760"/>
          </a:xfrm>
          <a:prstGeom prst="rect">
            <a:avLst/>
          </a:prstGeom>
          <a:noFill/>
          <a:ln/>
        </p:spPr>
        <p:txBody>
          <a:bodyPr wrap="square" lIns="0" tIns="0" rIns="0" bIns="0" rtlCol="0" anchor="ctr"/>
          <a:lstStyle/>
          <a:p>
            <a:pPr indent="0" marL="0">
              <a:buNone/>
            </a:pPr>
            <a:r>
              <a:rPr lang="en-US" sz="1100" b="1" spc="400" kern="0" dirty="0">
                <a:solidFill>
                  <a:srgbClr val="115E59"/>
                </a:solidFill>
                <a:latin typeface="Calibri" pitchFamily="34" charset="0"/>
                <a:ea typeface="Calibri" pitchFamily="34" charset="-122"/>
                <a:cs typeface="Calibri" pitchFamily="34" charset="-120"/>
              </a:rPr>
              <a:t>WITH THE TOOL</a:t>
            </a:r>
            <a:endParaRPr lang="en-US" sz="1100" dirty="0"/>
          </a:p>
        </p:txBody>
      </p:sp>
      <p:sp>
        <p:nvSpPr>
          <p:cNvPr id="14" name="Shape 10"/>
          <p:cNvSpPr/>
          <p:nvPr/>
        </p:nvSpPr>
        <p:spPr>
          <a:xfrm>
            <a:off x="4370832" y="2400300"/>
            <a:ext cx="402336" cy="411480"/>
          </a:xfrm>
          <a:prstGeom prst="rightArrow">
            <a:avLst/>
          </a:prstGeom>
          <a:solidFill>
            <a:srgbClr val="0D9488"/>
          </a:solidFill>
          <a:ln w="12700">
            <a:solidFill>
              <a:srgbClr val="0D9488"/>
            </a:solidFill>
            <a:prstDash val="solid"/>
          </a:ln>
        </p:spPr>
      </p:sp>
      <p:sp>
        <p:nvSpPr>
          <p:cNvPr id="15" name="Text 11"/>
          <p:cNvSpPr/>
          <p:nvPr/>
        </p:nvSpPr>
        <p:spPr>
          <a:xfrm>
            <a:off x="457200" y="1737360"/>
            <a:ext cx="3749040" cy="2011680"/>
          </a:xfrm>
          <a:prstGeom prst="rect">
            <a:avLst/>
          </a:prstGeom>
          <a:noFill/>
          <a:ln/>
        </p:spPr>
        <p:txBody>
          <a:bodyPr wrap="square" rtlCol="0" anchor="t"/>
          <a:lstStyle/>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Open Sheet A, note the viewport XY</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Open Sheet B, eyeball-nudge the viewport to match</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Repeat for every plan, every section, every detail</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Re-do the whole pass when the title block changes</a:t>
            </a:r>
            <a:endParaRPr lang="en-US" sz="1200" dirty="0"/>
          </a:p>
        </p:txBody>
      </p:sp>
      <p:sp>
        <p:nvSpPr>
          <p:cNvPr id="16" name="Text 12"/>
          <p:cNvSpPr/>
          <p:nvPr/>
        </p:nvSpPr>
        <p:spPr>
          <a:xfrm>
            <a:off x="4937760" y="1737360"/>
            <a:ext cx="3749040" cy="2011680"/>
          </a:xfrm>
          <a:prstGeom prst="rect">
            <a:avLst/>
          </a:prstGeom>
          <a:noFill/>
          <a:ln/>
        </p:spPr>
        <p:txBody>
          <a:bodyPr wrap="square"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Pick a master viewport (the one that's correct)</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Tool finds matching viewports across the project</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Check the ones to align; choose what to match</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Every selected viewport snaps to the master</a:t>
            </a:r>
            <a:endParaRPr lang="en-US" sz="1200" dirty="0"/>
          </a:p>
        </p:txBody>
      </p:sp>
      <p:sp>
        <p:nvSpPr>
          <p:cNvPr id="17" name="Shape 13"/>
          <p:cNvSpPr/>
          <p:nvPr/>
        </p:nvSpPr>
        <p:spPr>
          <a:xfrm>
            <a:off x="457200" y="3977640"/>
            <a:ext cx="8229600" cy="640080"/>
          </a:xfrm>
          <a:prstGeom prst="rect">
            <a:avLst/>
          </a:prstGeom>
          <a:solidFill>
            <a:srgbClr val="1E293B"/>
          </a:solidFill>
          <a:ln w="12700">
            <a:solidFill>
              <a:srgbClr val="1E293B"/>
            </a:solidFill>
            <a:prstDash val="solid"/>
          </a:ln>
        </p:spPr>
      </p:sp>
      <p:sp>
        <p:nvSpPr>
          <p:cNvPr id="18" name="Shape 14"/>
          <p:cNvSpPr/>
          <p:nvPr/>
        </p:nvSpPr>
        <p:spPr>
          <a:xfrm>
            <a:off x="457200" y="3977640"/>
            <a:ext cx="73152" cy="640080"/>
          </a:xfrm>
          <a:prstGeom prst="rect">
            <a:avLst/>
          </a:prstGeom>
          <a:solidFill>
            <a:srgbClr val="EA580C"/>
          </a:solidFill>
          <a:ln w="12700">
            <a:solidFill>
              <a:srgbClr val="EA580C"/>
            </a:solidFill>
            <a:prstDash val="solid"/>
          </a:ln>
        </p:spPr>
      </p:sp>
      <p:sp>
        <p:nvSpPr>
          <p:cNvPr id="19" name="Text 15"/>
          <p:cNvSpPr/>
          <p:nvPr/>
        </p:nvSpPr>
        <p:spPr>
          <a:xfrm>
            <a:off x="685800" y="3977640"/>
            <a:ext cx="7863840" cy="640080"/>
          </a:xfrm>
          <a:prstGeom prst="rect">
            <a:avLst/>
          </a:prstGeom>
          <a:noFill/>
          <a:ln/>
        </p:spPr>
        <p:txBody>
          <a:bodyPr wrap="square" lIns="0" tIns="0" rIns="0" bIns="0" rtlCol="0" anchor="ctr"/>
          <a:lstStyle/>
          <a:p>
            <a:pPr indent="0" marL="0">
              <a:buNone/>
            </a:pPr>
            <a:r>
              <a:rPr lang="en-US" sz="1200" b="1" dirty="0">
                <a:solidFill>
                  <a:srgbClr val="EA580C"/>
                </a:solidFill>
                <a:latin typeface="Calibri" pitchFamily="34" charset="0"/>
                <a:ea typeface="Calibri" pitchFamily="34" charset="-122"/>
                <a:cs typeface="Calibri" pitchFamily="34" charset="-120"/>
              </a:rPr>
              <a:t>Why it matters: </a:t>
            </a:r>
            <a:pPr indent="0" marL="0">
              <a:buNone/>
            </a:pPr>
            <a:r>
              <a:rPr lang="en-US" sz="1200" dirty="0">
                <a:solidFill>
                  <a:srgbClr val="FFFFFF"/>
                </a:solidFill>
                <a:latin typeface="Calibri" pitchFamily="34" charset="0"/>
                <a:ea typeface="Calibri" pitchFamily="34" charset="-122"/>
                <a:cs typeface="Calibri" pitchFamily="34" charset="-120"/>
              </a:rPr>
              <a:t>Sheets that line up read as professional. This makes that automatic.</a:t>
            </a:r>
            <a:endParaRPr lang="en-US" sz="1200" dirty="0"/>
          </a:p>
        </p:txBody>
      </p:sp>
      <p:sp>
        <p:nvSpPr>
          <p:cNvPr id="20" name="Text 16"/>
          <p:cNvSpPr/>
          <p:nvPr/>
        </p:nvSpPr>
        <p:spPr>
          <a:xfrm>
            <a:off x="365760" y="4846320"/>
            <a:ext cx="3657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Part 1 · Tools that boost productivity</a:t>
            </a:r>
            <a:endParaRPr lang="en-US" sz="900" dirty="0"/>
          </a:p>
        </p:txBody>
      </p:sp>
      <p:sp>
        <p:nvSpPr>
          <p:cNvPr id="21" name="Text 17"/>
          <p:cNvSpPr/>
          <p:nvPr/>
        </p:nvSpPr>
        <p:spPr>
          <a:xfrm>
            <a:off x="5120640" y="4846320"/>
            <a:ext cx="3108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dbHMS  ·  Nathan Raab</a:t>
            </a:r>
            <a:endParaRPr lang="en-US" sz="900" dirty="0"/>
          </a:p>
        </p:txBody>
      </p:sp>
      <p:sp>
        <p:nvSpPr>
          <p:cNvPr id="22" name="Text 18"/>
          <p:cNvSpPr/>
          <p:nvPr/>
        </p:nvSpPr>
        <p:spPr>
          <a:xfrm>
            <a:off x="8412480" y="4846320"/>
            <a:ext cx="54864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48640" cy="548640"/>
          </a:xfrm>
          <a:prstGeom prst="ellipse">
            <a:avLst/>
          </a:prstGeom>
          <a:solidFill>
            <a:srgbClr val="0D9488"/>
          </a:solidFill>
          <a:ln w="12700">
            <a:solidFill>
              <a:srgbClr val="0D9488"/>
            </a:solidFill>
            <a:prstDash val="solid"/>
          </a:ln>
        </p:spPr>
      </p:sp>
      <p:pic>
        <p:nvPicPr>
          <p:cNvPr id="3" name="Image 0" descr="preencoded.png">    </p:cNvPr>
          <p:cNvPicPr>
            <a:picLocks noChangeAspect="1"/>
          </p:cNvPicPr>
          <p:nvPr/>
        </p:nvPicPr>
        <p:blipFill>
          <a:blip r:embed="rId1"/>
          <a:stretch>
            <a:fillRect/>
          </a:stretch>
        </p:blipFill>
        <p:spPr>
          <a:xfrm>
            <a:off x="603504" y="484632"/>
            <a:ext cx="347472" cy="347472"/>
          </a:xfrm>
          <a:prstGeom prst="rect">
            <a:avLst/>
          </a:prstGeom>
        </p:spPr>
      </p:pic>
      <p:sp>
        <p:nvSpPr>
          <p:cNvPr id="4" name="Text 1"/>
          <p:cNvSpPr/>
          <p:nvPr/>
        </p:nvSpPr>
        <p:spPr>
          <a:xfrm>
            <a:off x="1143000" y="365760"/>
            <a:ext cx="6400800" cy="45720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Sheet Manager</a:t>
            </a:r>
            <a:endParaRPr lang="en-US" sz="2800" dirty="0"/>
          </a:p>
        </p:txBody>
      </p:sp>
      <p:sp>
        <p:nvSpPr>
          <p:cNvPr id="5" name="Text 2"/>
          <p:cNvSpPr/>
          <p:nvPr/>
        </p:nvSpPr>
        <p:spPr>
          <a:xfrm>
            <a:off x="1143000" y="777240"/>
            <a:ext cx="6400800" cy="27432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Group, rename, renumber and duplicate sheets in bulk</a:t>
            </a:r>
            <a:endParaRPr lang="en-US" sz="1200" dirty="0"/>
          </a:p>
        </p:txBody>
      </p:sp>
      <p:sp>
        <p:nvSpPr>
          <p:cNvPr id="6" name="Shape 3"/>
          <p:cNvSpPr/>
          <p:nvPr/>
        </p:nvSpPr>
        <p:spPr>
          <a:xfrm>
            <a:off x="7223760" y="384048"/>
            <a:ext cx="1554480" cy="640080"/>
          </a:xfrm>
          <a:prstGeom prst="roundRect">
            <a:avLst>
              <a:gd name="adj" fmla="val 11429"/>
            </a:avLst>
          </a:prstGeom>
          <a:solidFill>
            <a:srgbClr val="FFEDD5"/>
          </a:solidFill>
          <a:ln w="12700">
            <a:solidFill>
              <a:srgbClr val="FFEDD5"/>
            </a:solidFill>
            <a:prstDash val="solid"/>
          </a:ln>
        </p:spPr>
      </p:sp>
      <p:pic>
        <p:nvPicPr>
          <p:cNvPr id="7" name="Image 1" descr="preencoded.png">    </p:cNvPr>
          <p:cNvPicPr>
            <a:picLocks noChangeAspect="1"/>
          </p:cNvPicPr>
          <p:nvPr/>
        </p:nvPicPr>
        <p:blipFill>
          <a:blip r:embed="rId2"/>
          <a:stretch>
            <a:fillRect/>
          </a:stretch>
        </p:blipFill>
        <p:spPr>
          <a:xfrm>
            <a:off x="7315200" y="548640"/>
            <a:ext cx="310896" cy="310896"/>
          </a:xfrm>
          <a:prstGeom prst="rect">
            <a:avLst/>
          </a:prstGeom>
        </p:spPr>
      </p:pic>
      <p:sp>
        <p:nvSpPr>
          <p:cNvPr id="8" name="Text 4"/>
          <p:cNvSpPr/>
          <p:nvPr/>
        </p:nvSpPr>
        <p:spPr>
          <a:xfrm>
            <a:off x="7680960" y="384048"/>
            <a:ext cx="1097280" cy="411480"/>
          </a:xfrm>
          <a:prstGeom prst="rect">
            <a:avLst/>
          </a:prstGeom>
          <a:noFill/>
          <a:ln/>
        </p:spPr>
        <p:txBody>
          <a:bodyPr wrap="square" lIns="0" tIns="0" rIns="0" bIns="0" rtlCol="0" anchor="ctr"/>
          <a:lstStyle/>
          <a:p>
            <a:pPr algn="ctr" indent="0" marL="0">
              <a:buNone/>
            </a:pPr>
            <a:r>
              <a:rPr lang="en-US" sz="2200" b="1" dirty="0">
                <a:solidFill>
                  <a:srgbClr val="EA580C"/>
                </a:solidFill>
                <a:latin typeface="Georgia" pitchFamily="34" charset="0"/>
                <a:ea typeface="Georgia" pitchFamily="34" charset="-122"/>
                <a:cs typeface="Georgia" pitchFamily="34" charset="-120"/>
              </a:rPr>
              <a:t>~1.5h</a:t>
            </a:r>
            <a:endParaRPr lang="en-US" sz="2200" dirty="0"/>
          </a:p>
        </p:txBody>
      </p:sp>
      <p:sp>
        <p:nvSpPr>
          <p:cNvPr id="9" name="Text 5"/>
          <p:cNvSpPr/>
          <p:nvPr/>
        </p:nvSpPr>
        <p:spPr>
          <a:xfrm>
            <a:off x="7315200" y="777240"/>
            <a:ext cx="1463040" cy="228600"/>
          </a:xfrm>
          <a:prstGeom prst="rect">
            <a:avLst/>
          </a:prstGeom>
          <a:noFill/>
          <a:ln/>
        </p:spPr>
        <p:txBody>
          <a:bodyPr wrap="square" lIns="0" tIns="0" rIns="0" bIns="0" rtlCol="0" anchor="ctr"/>
          <a:lstStyle/>
          <a:p>
            <a:pPr algn="ctr" indent="0" marL="0">
              <a:buNone/>
            </a:pPr>
            <a:r>
              <a:rPr lang="en-US" sz="900" dirty="0">
                <a:solidFill>
                  <a:srgbClr val="EA580C"/>
                </a:solidFill>
                <a:latin typeface="Calibri" pitchFamily="34" charset="0"/>
                <a:ea typeface="Calibri" pitchFamily="34" charset="-122"/>
                <a:cs typeface="Calibri" pitchFamily="34" charset="-120"/>
              </a:rPr>
              <a:t>per project</a:t>
            </a:r>
            <a:endParaRPr lang="en-US" sz="900" dirty="0"/>
          </a:p>
        </p:txBody>
      </p:sp>
      <p:sp>
        <p:nvSpPr>
          <p:cNvPr id="10" name="Shape 6"/>
          <p:cNvSpPr/>
          <p:nvPr/>
        </p:nvSpPr>
        <p:spPr>
          <a:xfrm>
            <a:off x="457200" y="1280160"/>
            <a:ext cx="3749040" cy="365760"/>
          </a:xfrm>
          <a:prstGeom prst="rect">
            <a:avLst/>
          </a:prstGeom>
          <a:solidFill>
            <a:srgbClr val="FEE2E2"/>
          </a:solidFill>
          <a:ln w="12700">
            <a:solidFill>
              <a:srgbClr val="FEE2E2"/>
            </a:solidFill>
            <a:prstDash val="solid"/>
          </a:ln>
        </p:spPr>
      </p:sp>
      <p:sp>
        <p:nvSpPr>
          <p:cNvPr id="11" name="Text 7"/>
          <p:cNvSpPr/>
          <p:nvPr/>
        </p:nvSpPr>
        <p:spPr>
          <a:xfrm>
            <a:off x="594360" y="1280160"/>
            <a:ext cx="3474720" cy="365760"/>
          </a:xfrm>
          <a:prstGeom prst="rect">
            <a:avLst/>
          </a:prstGeom>
          <a:noFill/>
          <a:ln/>
        </p:spPr>
        <p:txBody>
          <a:bodyPr wrap="square" lIns="0" tIns="0" rIns="0" bIns="0" rtlCol="0" anchor="ctr"/>
          <a:lstStyle/>
          <a:p>
            <a:pPr indent="0" marL="0">
              <a:buNone/>
            </a:pPr>
            <a:r>
              <a:rPr lang="en-US" sz="1100" b="1" spc="400" kern="0" dirty="0">
                <a:solidFill>
                  <a:srgbClr val="B91C1C"/>
                </a:solidFill>
                <a:latin typeface="Calibri" pitchFamily="34" charset="0"/>
                <a:ea typeface="Calibri" pitchFamily="34" charset="-122"/>
                <a:cs typeface="Calibri" pitchFamily="34" charset="-120"/>
              </a:rPr>
              <a:t>BEFORE</a:t>
            </a:r>
            <a:endParaRPr lang="en-US" sz="1100" dirty="0"/>
          </a:p>
        </p:txBody>
      </p:sp>
      <p:sp>
        <p:nvSpPr>
          <p:cNvPr id="12" name="Shape 8"/>
          <p:cNvSpPr/>
          <p:nvPr/>
        </p:nvSpPr>
        <p:spPr>
          <a:xfrm>
            <a:off x="4937760" y="1280160"/>
            <a:ext cx="3749040" cy="365760"/>
          </a:xfrm>
          <a:prstGeom prst="rect">
            <a:avLst/>
          </a:prstGeom>
          <a:solidFill>
            <a:srgbClr val="CCFBF1"/>
          </a:solidFill>
          <a:ln w="12700">
            <a:solidFill>
              <a:srgbClr val="CCFBF1"/>
            </a:solidFill>
            <a:prstDash val="solid"/>
          </a:ln>
        </p:spPr>
      </p:sp>
      <p:sp>
        <p:nvSpPr>
          <p:cNvPr id="13" name="Text 9"/>
          <p:cNvSpPr/>
          <p:nvPr/>
        </p:nvSpPr>
        <p:spPr>
          <a:xfrm>
            <a:off x="5074920" y="1280160"/>
            <a:ext cx="3474720" cy="365760"/>
          </a:xfrm>
          <a:prstGeom prst="rect">
            <a:avLst/>
          </a:prstGeom>
          <a:noFill/>
          <a:ln/>
        </p:spPr>
        <p:txBody>
          <a:bodyPr wrap="square" lIns="0" tIns="0" rIns="0" bIns="0" rtlCol="0" anchor="ctr"/>
          <a:lstStyle/>
          <a:p>
            <a:pPr indent="0" marL="0">
              <a:buNone/>
            </a:pPr>
            <a:r>
              <a:rPr lang="en-US" sz="1100" b="1" spc="400" kern="0" dirty="0">
                <a:solidFill>
                  <a:srgbClr val="115E59"/>
                </a:solidFill>
                <a:latin typeface="Calibri" pitchFamily="34" charset="0"/>
                <a:ea typeface="Calibri" pitchFamily="34" charset="-122"/>
                <a:cs typeface="Calibri" pitchFamily="34" charset="-120"/>
              </a:rPr>
              <a:t>WITH THE TOOL</a:t>
            </a:r>
            <a:endParaRPr lang="en-US" sz="1100" dirty="0"/>
          </a:p>
        </p:txBody>
      </p:sp>
      <p:sp>
        <p:nvSpPr>
          <p:cNvPr id="14" name="Shape 10"/>
          <p:cNvSpPr/>
          <p:nvPr/>
        </p:nvSpPr>
        <p:spPr>
          <a:xfrm>
            <a:off x="4370832" y="2400300"/>
            <a:ext cx="402336" cy="411480"/>
          </a:xfrm>
          <a:prstGeom prst="rightArrow">
            <a:avLst/>
          </a:prstGeom>
          <a:solidFill>
            <a:srgbClr val="0D9488"/>
          </a:solidFill>
          <a:ln w="12700">
            <a:solidFill>
              <a:srgbClr val="0D9488"/>
            </a:solidFill>
            <a:prstDash val="solid"/>
          </a:ln>
        </p:spPr>
      </p:sp>
      <p:sp>
        <p:nvSpPr>
          <p:cNvPr id="15" name="Text 11"/>
          <p:cNvSpPr/>
          <p:nvPr/>
        </p:nvSpPr>
        <p:spPr>
          <a:xfrm>
            <a:off x="457200" y="1737360"/>
            <a:ext cx="3749040" cy="2011680"/>
          </a:xfrm>
          <a:prstGeom prst="rect">
            <a:avLst/>
          </a:prstGeom>
          <a:noFill/>
          <a:ln/>
        </p:spPr>
        <p:txBody>
          <a:bodyPr wrap="square" rtlCol="0" anchor="t"/>
          <a:lstStyle/>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Open Project Browser, scroll to find each sheet</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Right-click → rename, one sheet at a time</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Duplicate by hand, then re-create every viewport</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Manually re-apply revisions to each new sheet</a:t>
            </a:r>
            <a:endParaRPr lang="en-US" sz="1200" dirty="0"/>
          </a:p>
        </p:txBody>
      </p:sp>
      <p:sp>
        <p:nvSpPr>
          <p:cNvPr id="16" name="Text 12"/>
          <p:cNvSpPr/>
          <p:nvPr/>
        </p:nvSpPr>
        <p:spPr>
          <a:xfrm>
            <a:off x="4937760" y="1737360"/>
            <a:ext cx="3749040" cy="2011680"/>
          </a:xfrm>
          <a:prstGeom prst="rect">
            <a:avLst/>
          </a:prstGeom>
          <a:noFill/>
          <a:ln/>
        </p:spPr>
        <p:txBody>
          <a:bodyPr wrap="square"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All sheets grouped by trade prefix, with search</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Batch renumber/rename with a live preview</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Duplicate sheets with views and aligned viewports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Add or remove revisions across many sheets at once</a:t>
            </a:r>
            <a:endParaRPr lang="en-US" sz="1200" dirty="0"/>
          </a:p>
        </p:txBody>
      </p:sp>
      <p:sp>
        <p:nvSpPr>
          <p:cNvPr id="17" name="Shape 13"/>
          <p:cNvSpPr/>
          <p:nvPr/>
        </p:nvSpPr>
        <p:spPr>
          <a:xfrm>
            <a:off x="457200" y="3977640"/>
            <a:ext cx="8229600" cy="640080"/>
          </a:xfrm>
          <a:prstGeom prst="rect">
            <a:avLst/>
          </a:prstGeom>
          <a:solidFill>
            <a:srgbClr val="1E293B"/>
          </a:solidFill>
          <a:ln w="12700">
            <a:solidFill>
              <a:srgbClr val="1E293B"/>
            </a:solidFill>
            <a:prstDash val="solid"/>
          </a:ln>
        </p:spPr>
      </p:sp>
      <p:sp>
        <p:nvSpPr>
          <p:cNvPr id="18" name="Shape 14"/>
          <p:cNvSpPr/>
          <p:nvPr/>
        </p:nvSpPr>
        <p:spPr>
          <a:xfrm>
            <a:off x="457200" y="3977640"/>
            <a:ext cx="73152" cy="640080"/>
          </a:xfrm>
          <a:prstGeom prst="rect">
            <a:avLst/>
          </a:prstGeom>
          <a:solidFill>
            <a:srgbClr val="EA580C"/>
          </a:solidFill>
          <a:ln w="12700">
            <a:solidFill>
              <a:srgbClr val="EA580C"/>
            </a:solidFill>
            <a:prstDash val="solid"/>
          </a:ln>
        </p:spPr>
      </p:sp>
      <p:sp>
        <p:nvSpPr>
          <p:cNvPr id="19" name="Text 15"/>
          <p:cNvSpPr/>
          <p:nvPr/>
        </p:nvSpPr>
        <p:spPr>
          <a:xfrm>
            <a:off x="685800" y="3977640"/>
            <a:ext cx="7863840" cy="640080"/>
          </a:xfrm>
          <a:prstGeom prst="rect">
            <a:avLst/>
          </a:prstGeom>
          <a:noFill/>
          <a:ln/>
        </p:spPr>
        <p:txBody>
          <a:bodyPr wrap="square" lIns="0" tIns="0" rIns="0" bIns="0" rtlCol="0" anchor="ctr"/>
          <a:lstStyle/>
          <a:p>
            <a:pPr indent="0" marL="0">
              <a:buNone/>
            </a:pPr>
            <a:r>
              <a:rPr lang="en-US" sz="1200" b="1" dirty="0">
                <a:solidFill>
                  <a:srgbClr val="EA580C"/>
                </a:solidFill>
                <a:latin typeface="Calibri" pitchFamily="34" charset="0"/>
                <a:ea typeface="Calibri" pitchFamily="34" charset="-122"/>
                <a:cs typeface="Calibri" pitchFamily="34" charset="-120"/>
              </a:rPr>
              <a:t>Why it matters: </a:t>
            </a:r>
            <a:pPr indent="0" marL="0">
              <a:buNone/>
            </a:pPr>
            <a:r>
              <a:rPr lang="en-US" sz="1200" dirty="0">
                <a:solidFill>
                  <a:srgbClr val="FFFFFF"/>
                </a:solidFill>
                <a:latin typeface="Calibri" pitchFamily="34" charset="0"/>
                <a:ea typeface="Calibri" pitchFamily="34" charset="-122"/>
                <a:cs typeface="Calibri" pitchFamily="34" charset="-120"/>
              </a:rPr>
              <a:t>Turns the most clerical part of sheet management into a single dialog.</a:t>
            </a:r>
            <a:endParaRPr lang="en-US" sz="1200" dirty="0"/>
          </a:p>
        </p:txBody>
      </p:sp>
      <p:sp>
        <p:nvSpPr>
          <p:cNvPr id="20" name="Text 16"/>
          <p:cNvSpPr/>
          <p:nvPr/>
        </p:nvSpPr>
        <p:spPr>
          <a:xfrm>
            <a:off x="365760" y="4846320"/>
            <a:ext cx="3657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Part 1 · Tools that boost productivity</a:t>
            </a:r>
            <a:endParaRPr lang="en-US" sz="900" dirty="0"/>
          </a:p>
        </p:txBody>
      </p:sp>
      <p:sp>
        <p:nvSpPr>
          <p:cNvPr id="21" name="Text 17"/>
          <p:cNvSpPr/>
          <p:nvPr/>
        </p:nvSpPr>
        <p:spPr>
          <a:xfrm>
            <a:off x="5120640" y="4846320"/>
            <a:ext cx="3108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dbHMS  ·  Nathan Raab</a:t>
            </a:r>
            <a:endParaRPr lang="en-US" sz="900" dirty="0"/>
          </a:p>
        </p:txBody>
      </p:sp>
      <p:sp>
        <p:nvSpPr>
          <p:cNvPr id="22" name="Text 18"/>
          <p:cNvSpPr/>
          <p:nvPr/>
        </p:nvSpPr>
        <p:spPr>
          <a:xfrm>
            <a:off x="8412480" y="4846320"/>
            <a:ext cx="54864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48640" cy="548640"/>
          </a:xfrm>
          <a:prstGeom prst="ellipse">
            <a:avLst/>
          </a:prstGeom>
          <a:solidFill>
            <a:srgbClr val="0D9488"/>
          </a:solidFill>
          <a:ln w="12700">
            <a:solidFill>
              <a:srgbClr val="0D9488"/>
            </a:solidFill>
            <a:prstDash val="solid"/>
          </a:ln>
        </p:spPr>
      </p:sp>
      <p:pic>
        <p:nvPicPr>
          <p:cNvPr id="3" name="Image 0" descr="preencoded.png">    </p:cNvPr>
          <p:cNvPicPr>
            <a:picLocks noChangeAspect="1"/>
          </p:cNvPicPr>
          <p:nvPr/>
        </p:nvPicPr>
        <p:blipFill>
          <a:blip r:embed="rId1"/>
          <a:stretch>
            <a:fillRect/>
          </a:stretch>
        </p:blipFill>
        <p:spPr>
          <a:xfrm>
            <a:off x="603504" y="484632"/>
            <a:ext cx="347472" cy="347472"/>
          </a:xfrm>
          <a:prstGeom prst="rect">
            <a:avLst/>
          </a:prstGeom>
        </p:spPr>
      </p:pic>
      <p:sp>
        <p:nvSpPr>
          <p:cNvPr id="4" name="Text 1"/>
          <p:cNvSpPr/>
          <p:nvPr/>
        </p:nvSpPr>
        <p:spPr>
          <a:xfrm>
            <a:off x="1143000" y="365760"/>
            <a:ext cx="6400800" cy="45720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Revisions Manager</a:t>
            </a:r>
            <a:endParaRPr lang="en-US" sz="2800" dirty="0"/>
          </a:p>
        </p:txBody>
      </p:sp>
      <p:sp>
        <p:nvSpPr>
          <p:cNvPr id="5" name="Text 2"/>
          <p:cNvSpPr/>
          <p:nvPr/>
        </p:nvSpPr>
        <p:spPr>
          <a:xfrm>
            <a:off x="1143000" y="777240"/>
            <a:ext cx="6400800" cy="27432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Side-by-side revision and sheet management with cloud finder</a:t>
            </a:r>
            <a:endParaRPr lang="en-US" sz="1200" dirty="0"/>
          </a:p>
        </p:txBody>
      </p:sp>
      <p:sp>
        <p:nvSpPr>
          <p:cNvPr id="6" name="Shape 3"/>
          <p:cNvSpPr/>
          <p:nvPr/>
        </p:nvSpPr>
        <p:spPr>
          <a:xfrm>
            <a:off x="7223760" y="384048"/>
            <a:ext cx="1554480" cy="640080"/>
          </a:xfrm>
          <a:prstGeom prst="roundRect">
            <a:avLst>
              <a:gd name="adj" fmla="val 11429"/>
            </a:avLst>
          </a:prstGeom>
          <a:solidFill>
            <a:srgbClr val="FFEDD5"/>
          </a:solidFill>
          <a:ln w="12700">
            <a:solidFill>
              <a:srgbClr val="FFEDD5"/>
            </a:solidFill>
            <a:prstDash val="solid"/>
          </a:ln>
        </p:spPr>
      </p:sp>
      <p:pic>
        <p:nvPicPr>
          <p:cNvPr id="7" name="Image 1" descr="preencoded.png">    </p:cNvPr>
          <p:cNvPicPr>
            <a:picLocks noChangeAspect="1"/>
          </p:cNvPicPr>
          <p:nvPr/>
        </p:nvPicPr>
        <p:blipFill>
          <a:blip r:embed="rId2"/>
          <a:stretch>
            <a:fillRect/>
          </a:stretch>
        </p:blipFill>
        <p:spPr>
          <a:xfrm>
            <a:off x="7315200" y="548640"/>
            <a:ext cx="310896" cy="310896"/>
          </a:xfrm>
          <a:prstGeom prst="rect">
            <a:avLst/>
          </a:prstGeom>
        </p:spPr>
      </p:pic>
      <p:sp>
        <p:nvSpPr>
          <p:cNvPr id="8" name="Text 4"/>
          <p:cNvSpPr/>
          <p:nvPr/>
        </p:nvSpPr>
        <p:spPr>
          <a:xfrm>
            <a:off x="7680960" y="384048"/>
            <a:ext cx="1097280" cy="411480"/>
          </a:xfrm>
          <a:prstGeom prst="rect">
            <a:avLst/>
          </a:prstGeom>
          <a:noFill/>
          <a:ln/>
        </p:spPr>
        <p:txBody>
          <a:bodyPr wrap="square" lIns="0" tIns="0" rIns="0" bIns="0" rtlCol="0" anchor="ctr"/>
          <a:lstStyle/>
          <a:p>
            <a:pPr algn="ctr" indent="0" marL="0">
              <a:buNone/>
            </a:pPr>
            <a:r>
              <a:rPr lang="en-US" sz="2200" b="1" dirty="0">
                <a:solidFill>
                  <a:srgbClr val="EA580C"/>
                </a:solidFill>
                <a:latin typeface="Georgia" pitchFamily="34" charset="0"/>
                <a:ea typeface="Georgia" pitchFamily="34" charset="-122"/>
                <a:cs typeface="Georgia" pitchFamily="34" charset="-120"/>
              </a:rPr>
              <a:t>~1h</a:t>
            </a:r>
            <a:endParaRPr lang="en-US" sz="2200" dirty="0"/>
          </a:p>
        </p:txBody>
      </p:sp>
      <p:sp>
        <p:nvSpPr>
          <p:cNvPr id="9" name="Text 5"/>
          <p:cNvSpPr/>
          <p:nvPr/>
        </p:nvSpPr>
        <p:spPr>
          <a:xfrm>
            <a:off x="7315200" y="777240"/>
            <a:ext cx="1463040" cy="228600"/>
          </a:xfrm>
          <a:prstGeom prst="rect">
            <a:avLst/>
          </a:prstGeom>
          <a:noFill/>
          <a:ln/>
        </p:spPr>
        <p:txBody>
          <a:bodyPr wrap="square" lIns="0" tIns="0" rIns="0" bIns="0" rtlCol="0" anchor="ctr"/>
          <a:lstStyle/>
          <a:p>
            <a:pPr algn="ctr" indent="0" marL="0">
              <a:buNone/>
            </a:pPr>
            <a:r>
              <a:rPr lang="en-US" sz="900" dirty="0">
                <a:solidFill>
                  <a:srgbClr val="EA580C"/>
                </a:solidFill>
                <a:latin typeface="Calibri" pitchFamily="34" charset="0"/>
                <a:ea typeface="Calibri" pitchFamily="34" charset="-122"/>
                <a:cs typeface="Calibri" pitchFamily="34" charset="-120"/>
              </a:rPr>
              <a:t>per project</a:t>
            </a:r>
            <a:endParaRPr lang="en-US" sz="900" dirty="0"/>
          </a:p>
        </p:txBody>
      </p:sp>
      <p:sp>
        <p:nvSpPr>
          <p:cNvPr id="10" name="Shape 6"/>
          <p:cNvSpPr/>
          <p:nvPr/>
        </p:nvSpPr>
        <p:spPr>
          <a:xfrm>
            <a:off x="457200" y="1280160"/>
            <a:ext cx="3749040" cy="365760"/>
          </a:xfrm>
          <a:prstGeom prst="rect">
            <a:avLst/>
          </a:prstGeom>
          <a:solidFill>
            <a:srgbClr val="FEE2E2"/>
          </a:solidFill>
          <a:ln w="12700">
            <a:solidFill>
              <a:srgbClr val="FEE2E2"/>
            </a:solidFill>
            <a:prstDash val="solid"/>
          </a:ln>
        </p:spPr>
      </p:sp>
      <p:sp>
        <p:nvSpPr>
          <p:cNvPr id="11" name="Text 7"/>
          <p:cNvSpPr/>
          <p:nvPr/>
        </p:nvSpPr>
        <p:spPr>
          <a:xfrm>
            <a:off x="594360" y="1280160"/>
            <a:ext cx="3474720" cy="365760"/>
          </a:xfrm>
          <a:prstGeom prst="rect">
            <a:avLst/>
          </a:prstGeom>
          <a:noFill/>
          <a:ln/>
        </p:spPr>
        <p:txBody>
          <a:bodyPr wrap="square" lIns="0" tIns="0" rIns="0" bIns="0" rtlCol="0" anchor="ctr"/>
          <a:lstStyle/>
          <a:p>
            <a:pPr indent="0" marL="0">
              <a:buNone/>
            </a:pPr>
            <a:r>
              <a:rPr lang="en-US" sz="1100" b="1" spc="400" kern="0" dirty="0">
                <a:solidFill>
                  <a:srgbClr val="B91C1C"/>
                </a:solidFill>
                <a:latin typeface="Calibri" pitchFamily="34" charset="0"/>
                <a:ea typeface="Calibri" pitchFamily="34" charset="-122"/>
                <a:cs typeface="Calibri" pitchFamily="34" charset="-120"/>
              </a:rPr>
              <a:t>BEFORE</a:t>
            </a:r>
            <a:endParaRPr lang="en-US" sz="1100" dirty="0"/>
          </a:p>
        </p:txBody>
      </p:sp>
      <p:sp>
        <p:nvSpPr>
          <p:cNvPr id="12" name="Shape 8"/>
          <p:cNvSpPr/>
          <p:nvPr/>
        </p:nvSpPr>
        <p:spPr>
          <a:xfrm>
            <a:off x="4937760" y="1280160"/>
            <a:ext cx="3749040" cy="365760"/>
          </a:xfrm>
          <a:prstGeom prst="rect">
            <a:avLst/>
          </a:prstGeom>
          <a:solidFill>
            <a:srgbClr val="CCFBF1"/>
          </a:solidFill>
          <a:ln w="12700">
            <a:solidFill>
              <a:srgbClr val="CCFBF1"/>
            </a:solidFill>
            <a:prstDash val="solid"/>
          </a:ln>
        </p:spPr>
      </p:sp>
      <p:sp>
        <p:nvSpPr>
          <p:cNvPr id="13" name="Text 9"/>
          <p:cNvSpPr/>
          <p:nvPr/>
        </p:nvSpPr>
        <p:spPr>
          <a:xfrm>
            <a:off x="5074920" y="1280160"/>
            <a:ext cx="3474720" cy="365760"/>
          </a:xfrm>
          <a:prstGeom prst="rect">
            <a:avLst/>
          </a:prstGeom>
          <a:noFill/>
          <a:ln/>
        </p:spPr>
        <p:txBody>
          <a:bodyPr wrap="square" lIns="0" tIns="0" rIns="0" bIns="0" rtlCol="0" anchor="ctr"/>
          <a:lstStyle/>
          <a:p>
            <a:pPr indent="0" marL="0">
              <a:buNone/>
            </a:pPr>
            <a:r>
              <a:rPr lang="en-US" sz="1100" b="1" spc="400" kern="0" dirty="0">
                <a:solidFill>
                  <a:srgbClr val="115E59"/>
                </a:solidFill>
                <a:latin typeface="Calibri" pitchFamily="34" charset="0"/>
                <a:ea typeface="Calibri" pitchFamily="34" charset="-122"/>
                <a:cs typeface="Calibri" pitchFamily="34" charset="-120"/>
              </a:rPr>
              <a:t>WITH THE TOOL</a:t>
            </a:r>
            <a:endParaRPr lang="en-US" sz="1100" dirty="0"/>
          </a:p>
        </p:txBody>
      </p:sp>
      <p:sp>
        <p:nvSpPr>
          <p:cNvPr id="14" name="Shape 10"/>
          <p:cNvSpPr/>
          <p:nvPr/>
        </p:nvSpPr>
        <p:spPr>
          <a:xfrm>
            <a:off x="4370832" y="2400300"/>
            <a:ext cx="402336" cy="411480"/>
          </a:xfrm>
          <a:prstGeom prst="rightArrow">
            <a:avLst/>
          </a:prstGeom>
          <a:solidFill>
            <a:srgbClr val="0D9488"/>
          </a:solidFill>
          <a:ln w="12700">
            <a:solidFill>
              <a:srgbClr val="0D9488"/>
            </a:solidFill>
            <a:prstDash val="solid"/>
          </a:ln>
        </p:spPr>
      </p:sp>
      <p:sp>
        <p:nvSpPr>
          <p:cNvPr id="15" name="Text 11"/>
          <p:cNvSpPr/>
          <p:nvPr/>
        </p:nvSpPr>
        <p:spPr>
          <a:xfrm>
            <a:off x="457200" y="1737360"/>
            <a:ext cx="3749040" cy="2011680"/>
          </a:xfrm>
          <a:prstGeom prst="rect">
            <a:avLst/>
          </a:prstGeom>
          <a:noFill/>
          <a:ln/>
        </p:spPr>
        <p:txBody>
          <a:bodyPr wrap="square" rtlCol="0" anchor="t"/>
          <a:lstStyle/>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Native dialog forces you to do one revision at a time</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Apply or remove revisions sheet-by-sheet</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Hunt for stray revision clouds in every view</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No way to multi-select sheets in a revision</a:t>
            </a:r>
            <a:endParaRPr lang="en-US" sz="1200" dirty="0"/>
          </a:p>
        </p:txBody>
      </p:sp>
      <p:sp>
        <p:nvSpPr>
          <p:cNvPr id="16" name="Text 12"/>
          <p:cNvSpPr/>
          <p:nvPr/>
        </p:nvSpPr>
        <p:spPr>
          <a:xfrm>
            <a:off x="4937760" y="1737360"/>
            <a:ext cx="3749040" cy="2011680"/>
          </a:xfrm>
          <a:prstGeom prst="rect">
            <a:avLst/>
          </a:prstGeom>
          <a:noFill/>
          <a:ln/>
        </p:spPr>
        <p:txBody>
          <a:bodyPr wrap="square"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Full revision grid with reorder, edit, numbering</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Multi-select sheets and apply or remove in one click</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"Find Clouds" lists every cloud — double-click to zoom</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Cloud / Tag launchers built right in</a:t>
            </a:r>
            <a:endParaRPr lang="en-US" sz="1200" dirty="0"/>
          </a:p>
        </p:txBody>
      </p:sp>
      <p:sp>
        <p:nvSpPr>
          <p:cNvPr id="17" name="Shape 13"/>
          <p:cNvSpPr/>
          <p:nvPr/>
        </p:nvSpPr>
        <p:spPr>
          <a:xfrm>
            <a:off x="457200" y="3977640"/>
            <a:ext cx="8229600" cy="640080"/>
          </a:xfrm>
          <a:prstGeom prst="rect">
            <a:avLst/>
          </a:prstGeom>
          <a:solidFill>
            <a:srgbClr val="1E293B"/>
          </a:solidFill>
          <a:ln w="12700">
            <a:solidFill>
              <a:srgbClr val="1E293B"/>
            </a:solidFill>
            <a:prstDash val="solid"/>
          </a:ln>
        </p:spPr>
      </p:sp>
      <p:sp>
        <p:nvSpPr>
          <p:cNvPr id="18" name="Shape 14"/>
          <p:cNvSpPr/>
          <p:nvPr/>
        </p:nvSpPr>
        <p:spPr>
          <a:xfrm>
            <a:off x="457200" y="3977640"/>
            <a:ext cx="73152" cy="640080"/>
          </a:xfrm>
          <a:prstGeom prst="rect">
            <a:avLst/>
          </a:prstGeom>
          <a:solidFill>
            <a:srgbClr val="EA580C"/>
          </a:solidFill>
          <a:ln w="12700">
            <a:solidFill>
              <a:srgbClr val="EA580C"/>
            </a:solidFill>
            <a:prstDash val="solid"/>
          </a:ln>
        </p:spPr>
      </p:sp>
      <p:sp>
        <p:nvSpPr>
          <p:cNvPr id="19" name="Text 15"/>
          <p:cNvSpPr/>
          <p:nvPr/>
        </p:nvSpPr>
        <p:spPr>
          <a:xfrm>
            <a:off x="685800" y="3977640"/>
            <a:ext cx="7863840" cy="640080"/>
          </a:xfrm>
          <a:prstGeom prst="rect">
            <a:avLst/>
          </a:prstGeom>
          <a:noFill/>
          <a:ln/>
        </p:spPr>
        <p:txBody>
          <a:bodyPr wrap="square" lIns="0" tIns="0" rIns="0" bIns="0" rtlCol="0" anchor="ctr"/>
          <a:lstStyle/>
          <a:p>
            <a:pPr indent="0" marL="0">
              <a:buNone/>
            </a:pPr>
            <a:r>
              <a:rPr lang="en-US" sz="1200" b="1" dirty="0">
                <a:solidFill>
                  <a:srgbClr val="EA580C"/>
                </a:solidFill>
                <a:latin typeface="Calibri" pitchFamily="34" charset="0"/>
                <a:ea typeface="Calibri" pitchFamily="34" charset="-122"/>
                <a:cs typeface="Calibri" pitchFamily="34" charset="-120"/>
              </a:rPr>
              <a:t>Why it matters: </a:t>
            </a:r>
            <a:pPr indent="0" marL="0">
              <a:buNone/>
            </a:pPr>
            <a:r>
              <a:rPr lang="en-US" sz="1200" dirty="0">
                <a:solidFill>
                  <a:srgbClr val="FFFFFF"/>
                </a:solidFill>
                <a:latin typeface="Calibri" pitchFamily="34" charset="0"/>
                <a:ea typeface="Calibri" pitchFamily="34" charset="-122"/>
                <a:cs typeface="Calibri" pitchFamily="34" charset="-120"/>
              </a:rPr>
              <a:t>Issuing a revision goes from a half-day chore to a coffee break.</a:t>
            </a:r>
            <a:endParaRPr lang="en-US" sz="1200" dirty="0"/>
          </a:p>
        </p:txBody>
      </p:sp>
      <p:sp>
        <p:nvSpPr>
          <p:cNvPr id="20" name="Text 16"/>
          <p:cNvSpPr/>
          <p:nvPr/>
        </p:nvSpPr>
        <p:spPr>
          <a:xfrm>
            <a:off x="365760" y="4846320"/>
            <a:ext cx="3657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Part 1 · Tools that boost productivity</a:t>
            </a:r>
            <a:endParaRPr lang="en-US" sz="900" dirty="0"/>
          </a:p>
        </p:txBody>
      </p:sp>
      <p:sp>
        <p:nvSpPr>
          <p:cNvPr id="21" name="Text 17"/>
          <p:cNvSpPr/>
          <p:nvPr/>
        </p:nvSpPr>
        <p:spPr>
          <a:xfrm>
            <a:off x="5120640" y="4846320"/>
            <a:ext cx="3108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dbHMS  ·  Nathan Raab</a:t>
            </a:r>
            <a:endParaRPr lang="en-US" sz="900" dirty="0"/>
          </a:p>
        </p:txBody>
      </p:sp>
      <p:sp>
        <p:nvSpPr>
          <p:cNvPr id="22" name="Text 18"/>
          <p:cNvSpPr/>
          <p:nvPr/>
        </p:nvSpPr>
        <p:spPr>
          <a:xfrm>
            <a:off x="8412480" y="4846320"/>
            <a:ext cx="54864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48640" cy="548640"/>
          </a:xfrm>
          <a:prstGeom prst="ellipse">
            <a:avLst/>
          </a:prstGeom>
          <a:solidFill>
            <a:srgbClr val="0D9488"/>
          </a:solidFill>
          <a:ln w="12700">
            <a:solidFill>
              <a:srgbClr val="0D9488"/>
            </a:solidFill>
            <a:prstDash val="solid"/>
          </a:ln>
        </p:spPr>
      </p:sp>
      <p:pic>
        <p:nvPicPr>
          <p:cNvPr id="3" name="Image 0" descr="preencoded.png">    </p:cNvPr>
          <p:cNvPicPr>
            <a:picLocks noChangeAspect="1"/>
          </p:cNvPicPr>
          <p:nvPr/>
        </p:nvPicPr>
        <p:blipFill>
          <a:blip r:embed="rId1"/>
          <a:stretch>
            <a:fillRect/>
          </a:stretch>
        </p:blipFill>
        <p:spPr>
          <a:xfrm>
            <a:off x="603504" y="484632"/>
            <a:ext cx="347472" cy="347472"/>
          </a:xfrm>
          <a:prstGeom prst="rect">
            <a:avLst/>
          </a:prstGeom>
        </p:spPr>
      </p:pic>
      <p:sp>
        <p:nvSpPr>
          <p:cNvPr id="4" name="Text 1"/>
          <p:cNvSpPr/>
          <p:nvPr/>
        </p:nvSpPr>
        <p:spPr>
          <a:xfrm>
            <a:off x="1143000" y="365760"/>
            <a:ext cx="6400800" cy="45720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View Range Helper</a:t>
            </a:r>
            <a:endParaRPr lang="en-US" sz="2800" dirty="0"/>
          </a:p>
        </p:txBody>
      </p:sp>
      <p:sp>
        <p:nvSpPr>
          <p:cNvPr id="5" name="Text 2"/>
          <p:cNvSpPr/>
          <p:nvPr/>
        </p:nvSpPr>
        <p:spPr>
          <a:xfrm>
            <a:off x="1143000" y="777240"/>
            <a:ext cx="6400800" cy="27432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Visualize and edit view range with live plan + section preview</a:t>
            </a:r>
            <a:endParaRPr lang="en-US" sz="1200" dirty="0"/>
          </a:p>
        </p:txBody>
      </p:sp>
      <p:sp>
        <p:nvSpPr>
          <p:cNvPr id="6" name="Shape 3"/>
          <p:cNvSpPr/>
          <p:nvPr/>
        </p:nvSpPr>
        <p:spPr>
          <a:xfrm>
            <a:off x="7223760" y="384048"/>
            <a:ext cx="1554480" cy="640080"/>
          </a:xfrm>
          <a:prstGeom prst="roundRect">
            <a:avLst>
              <a:gd name="adj" fmla="val 11429"/>
            </a:avLst>
          </a:prstGeom>
          <a:solidFill>
            <a:srgbClr val="FFEDD5"/>
          </a:solidFill>
          <a:ln w="12700">
            <a:solidFill>
              <a:srgbClr val="FFEDD5"/>
            </a:solidFill>
            <a:prstDash val="solid"/>
          </a:ln>
        </p:spPr>
      </p:sp>
      <p:pic>
        <p:nvPicPr>
          <p:cNvPr id="7" name="Image 1" descr="preencoded.png">    </p:cNvPr>
          <p:cNvPicPr>
            <a:picLocks noChangeAspect="1"/>
          </p:cNvPicPr>
          <p:nvPr/>
        </p:nvPicPr>
        <p:blipFill>
          <a:blip r:embed="rId2"/>
          <a:stretch>
            <a:fillRect/>
          </a:stretch>
        </p:blipFill>
        <p:spPr>
          <a:xfrm>
            <a:off x="7315200" y="548640"/>
            <a:ext cx="310896" cy="310896"/>
          </a:xfrm>
          <a:prstGeom prst="rect">
            <a:avLst/>
          </a:prstGeom>
        </p:spPr>
      </p:pic>
      <p:sp>
        <p:nvSpPr>
          <p:cNvPr id="8" name="Text 4"/>
          <p:cNvSpPr/>
          <p:nvPr/>
        </p:nvSpPr>
        <p:spPr>
          <a:xfrm>
            <a:off x="7680960" y="384048"/>
            <a:ext cx="1097280" cy="411480"/>
          </a:xfrm>
          <a:prstGeom prst="rect">
            <a:avLst/>
          </a:prstGeom>
          <a:noFill/>
          <a:ln/>
        </p:spPr>
        <p:txBody>
          <a:bodyPr wrap="square" lIns="0" tIns="0" rIns="0" bIns="0" rtlCol="0" anchor="ctr"/>
          <a:lstStyle/>
          <a:p>
            <a:pPr algn="ctr" indent="0" marL="0">
              <a:buNone/>
            </a:pPr>
            <a:r>
              <a:rPr lang="en-US" sz="2200" b="1" dirty="0">
                <a:solidFill>
                  <a:srgbClr val="EA580C"/>
                </a:solidFill>
                <a:latin typeface="Georgia" pitchFamily="34" charset="0"/>
                <a:ea typeface="Georgia" pitchFamily="34" charset="-122"/>
                <a:cs typeface="Georgia" pitchFamily="34" charset="-120"/>
              </a:rPr>
              <a:t>~0.5h</a:t>
            </a:r>
            <a:endParaRPr lang="en-US" sz="2200" dirty="0"/>
          </a:p>
        </p:txBody>
      </p:sp>
      <p:sp>
        <p:nvSpPr>
          <p:cNvPr id="9" name="Text 5"/>
          <p:cNvSpPr/>
          <p:nvPr/>
        </p:nvSpPr>
        <p:spPr>
          <a:xfrm>
            <a:off x="7315200" y="777240"/>
            <a:ext cx="1463040" cy="228600"/>
          </a:xfrm>
          <a:prstGeom prst="rect">
            <a:avLst/>
          </a:prstGeom>
          <a:noFill/>
          <a:ln/>
        </p:spPr>
        <p:txBody>
          <a:bodyPr wrap="square" lIns="0" tIns="0" rIns="0" bIns="0" rtlCol="0" anchor="ctr"/>
          <a:lstStyle/>
          <a:p>
            <a:pPr algn="ctr" indent="0" marL="0">
              <a:buNone/>
            </a:pPr>
            <a:r>
              <a:rPr lang="en-US" sz="900" dirty="0">
                <a:solidFill>
                  <a:srgbClr val="EA580C"/>
                </a:solidFill>
                <a:latin typeface="Calibri" pitchFamily="34" charset="0"/>
                <a:ea typeface="Calibri" pitchFamily="34" charset="-122"/>
                <a:cs typeface="Calibri" pitchFamily="34" charset="-120"/>
              </a:rPr>
              <a:t>per project</a:t>
            </a:r>
            <a:endParaRPr lang="en-US" sz="900" dirty="0"/>
          </a:p>
        </p:txBody>
      </p:sp>
      <p:sp>
        <p:nvSpPr>
          <p:cNvPr id="10" name="Shape 6"/>
          <p:cNvSpPr/>
          <p:nvPr/>
        </p:nvSpPr>
        <p:spPr>
          <a:xfrm>
            <a:off x="457200" y="1280160"/>
            <a:ext cx="3749040" cy="365760"/>
          </a:xfrm>
          <a:prstGeom prst="rect">
            <a:avLst/>
          </a:prstGeom>
          <a:solidFill>
            <a:srgbClr val="FEE2E2"/>
          </a:solidFill>
          <a:ln w="12700">
            <a:solidFill>
              <a:srgbClr val="FEE2E2"/>
            </a:solidFill>
            <a:prstDash val="solid"/>
          </a:ln>
        </p:spPr>
      </p:sp>
      <p:sp>
        <p:nvSpPr>
          <p:cNvPr id="11" name="Text 7"/>
          <p:cNvSpPr/>
          <p:nvPr/>
        </p:nvSpPr>
        <p:spPr>
          <a:xfrm>
            <a:off x="594360" y="1280160"/>
            <a:ext cx="3474720" cy="365760"/>
          </a:xfrm>
          <a:prstGeom prst="rect">
            <a:avLst/>
          </a:prstGeom>
          <a:noFill/>
          <a:ln/>
        </p:spPr>
        <p:txBody>
          <a:bodyPr wrap="square" lIns="0" tIns="0" rIns="0" bIns="0" rtlCol="0" anchor="ctr"/>
          <a:lstStyle/>
          <a:p>
            <a:pPr indent="0" marL="0">
              <a:buNone/>
            </a:pPr>
            <a:r>
              <a:rPr lang="en-US" sz="1100" b="1" spc="400" kern="0" dirty="0">
                <a:solidFill>
                  <a:srgbClr val="B91C1C"/>
                </a:solidFill>
                <a:latin typeface="Calibri" pitchFamily="34" charset="0"/>
                <a:ea typeface="Calibri" pitchFamily="34" charset="-122"/>
                <a:cs typeface="Calibri" pitchFamily="34" charset="-120"/>
              </a:rPr>
              <a:t>BEFORE</a:t>
            </a:r>
            <a:endParaRPr lang="en-US" sz="1100" dirty="0"/>
          </a:p>
        </p:txBody>
      </p:sp>
      <p:sp>
        <p:nvSpPr>
          <p:cNvPr id="12" name="Shape 8"/>
          <p:cNvSpPr/>
          <p:nvPr/>
        </p:nvSpPr>
        <p:spPr>
          <a:xfrm>
            <a:off x="4937760" y="1280160"/>
            <a:ext cx="3749040" cy="365760"/>
          </a:xfrm>
          <a:prstGeom prst="rect">
            <a:avLst/>
          </a:prstGeom>
          <a:solidFill>
            <a:srgbClr val="CCFBF1"/>
          </a:solidFill>
          <a:ln w="12700">
            <a:solidFill>
              <a:srgbClr val="CCFBF1"/>
            </a:solidFill>
            <a:prstDash val="solid"/>
          </a:ln>
        </p:spPr>
      </p:sp>
      <p:sp>
        <p:nvSpPr>
          <p:cNvPr id="13" name="Text 9"/>
          <p:cNvSpPr/>
          <p:nvPr/>
        </p:nvSpPr>
        <p:spPr>
          <a:xfrm>
            <a:off x="5074920" y="1280160"/>
            <a:ext cx="3474720" cy="365760"/>
          </a:xfrm>
          <a:prstGeom prst="rect">
            <a:avLst/>
          </a:prstGeom>
          <a:noFill/>
          <a:ln/>
        </p:spPr>
        <p:txBody>
          <a:bodyPr wrap="square" lIns="0" tIns="0" rIns="0" bIns="0" rtlCol="0" anchor="ctr"/>
          <a:lstStyle/>
          <a:p>
            <a:pPr indent="0" marL="0">
              <a:buNone/>
            </a:pPr>
            <a:r>
              <a:rPr lang="en-US" sz="1100" b="1" spc="400" kern="0" dirty="0">
                <a:solidFill>
                  <a:srgbClr val="115E59"/>
                </a:solidFill>
                <a:latin typeface="Calibri" pitchFamily="34" charset="0"/>
                <a:ea typeface="Calibri" pitchFamily="34" charset="-122"/>
                <a:cs typeface="Calibri" pitchFamily="34" charset="-120"/>
              </a:rPr>
              <a:t>WITH THE TOOL</a:t>
            </a:r>
            <a:endParaRPr lang="en-US" sz="1100" dirty="0"/>
          </a:p>
        </p:txBody>
      </p:sp>
      <p:sp>
        <p:nvSpPr>
          <p:cNvPr id="14" name="Shape 10"/>
          <p:cNvSpPr/>
          <p:nvPr/>
        </p:nvSpPr>
        <p:spPr>
          <a:xfrm>
            <a:off x="4370832" y="2400300"/>
            <a:ext cx="402336" cy="411480"/>
          </a:xfrm>
          <a:prstGeom prst="rightArrow">
            <a:avLst/>
          </a:prstGeom>
          <a:solidFill>
            <a:srgbClr val="0D9488"/>
          </a:solidFill>
          <a:ln w="12700">
            <a:solidFill>
              <a:srgbClr val="0D9488"/>
            </a:solidFill>
            <a:prstDash val="solid"/>
          </a:ln>
        </p:spPr>
      </p:sp>
      <p:sp>
        <p:nvSpPr>
          <p:cNvPr id="15" name="Text 11"/>
          <p:cNvSpPr/>
          <p:nvPr/>
        </p:nvSpPr>
        <p:spPr>
          <a:xfrm>
            <a:off x="457200" y="1737360"/>
            <a:ext cx="3749040" cy="2011680"/>
          </a:xfrm>
          <a:prstGeom prst="rect">
            <a:avLst/>
          </a:prstGeom>
          <a:noFill/>
          <a:ln/>
        </p:spPr>
        <p:txBody>
          <a:bodyPr wrap="square" rtlCol="0" anchor="t"/>
          <a:lstStyle/>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Open the View Range dialog — four numbers, no preview</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Type a value, close, check the plan, re-open, repeat</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If the view template locks the range, you're stuck</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Hard to teach, easy to get wrong</a:t>
            </a:r>
            <a:endParaRPr lang="en-US" sz="1200" dirty="0"/>
          </a:p>
        </p:txBody>
      </p:sp>
      <p:sp>
        <p:nvSpPr>
          <p:cNvPr id="16" name="Text 12"/>
          <p:cNvSpPr/>
          <p:nvPr/>
        </p:nvSpPr>
        <p:spPr>
          <a:xfrm>
            <a:off x="4937760" y="1737360"/>
            <a:ext cx="3749040" cy="2011680"/>
          </a:xfrm>
          <a:prstGeom prst="rect">
            <a:avLst/>
          </a:prstGeom>
          <a:noFill/>
          <a:ln/>
        </p:spPr>
        <p:txBody>
          <a:bodyPr wrap="square"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Live plan view with a draggable section line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Live synthetic section with four colored, draggable planes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Edit numerically or visually — they stay in sync</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Banner offers a clean unlock when a template controls the range</a:t>
            </a:r>
            <a:endParaRPr lang="en-US" sz="1200" dirty="0"/>
          </a:p>
        </p:txBody>
      </p:sp>
      <p:sp>
        <p:nvSpPr>
          <p:cNvPr id="17" name="Shape 13"/>
          <p:cNvSpPr/>
          <p:nvPr/>
        </p:nvSpPr>
        <p:spPr>
          <a:xfrm>
            <a:off x="457200" y="3977640"/>
            <a:ext cx="8229600" cy="640080"/>
          </a:xfrm>
          <a:prstGeom prst="rect">
            <a:avLst/>
          </a:prstGeom>
          <a:solidFill>
            <a:srgbClr val="1E293B"/>
          </a:solidFill>
          <a:ln w="12700">
            <a:solidFill>
              <a:srgbClr val="1E293B"/>
            </a:solidFill>
            <a:prstDash val="solid"/>
          </a:ln>
        </p:spPr>
      </p:sp>
      <p:sp>
        <p:nvSpPr>
          <p:cNvPr id="18" name="Shape 14"/>
          <p:cNvSpPr/>
          <p:nvPr/>
        </p:nvSpPr>
        <p:spPr>
          <a:xfrm>
            <a:off x="457200" y="3977640"/>
            <a:ext cx="73152" cy="640080"/>
          </a:xfrm>
          <a:prstGeom prst="rect">
            <a:avLst/>
          </a:prstGeom>
          <a:solidFill>
            <a:srgbClr val="EA580C"/>
          </a:solidFill>
          <a:ln w="12700">
            <a:solidFill>
              <a:srgbClr val="EA580C"/>
            </a:solidFill>
            <a:prstDash val="solid"/>
          </a:ln>
        </p:spPr>
      </p:sp>
      <p:sp>
        <p:nvSpPr>
          <p:cNvPr id="19" name="Text 15"/>
          <p:cNvSpPr/>
          <p:nvPr/>
        </p:nvSpPr>
        <p:spPr>
          <a:xfrm>
            <a:off x="685800" y="3977640"/>
            <a:ext cx="7863840" cy="640080"/>
          </a:xfrm>
          <a:prstGeom prst="rect">
            <a:avLst/>
          </a:prstGeom>
          <a:noFill/>
          <a:ln/>
        </p:spPr>
        <p:txBody>
          <a:bodyPr wrap="square" lIns="0" tIns="0" rIns="0" bIns="0" rtlCol="0" anchor="ctr"/>
          <a:lstStyle/>
          <a:p>
            <a:pPr indent="0" marL="0">
              <a:buNone/>
            </a:pPr>
            <a:r>
              <a:rPr lang="en-US" sz="1200" b="1" dirty="0">
                <a:solidFill>
                  <a:srgbClr val="EA580C"/>
                </a:solidFill>
                <a:latin typeface="Calibri" pitchFamily="34" charset="0"/>
                <a:ea typeface="Calibri" pitchFamily="34" charset="-122"/>
                <a:cs typeface="Calibri" pitchFamily="34" charset="-120"/>
              </a:rPr>
              <a:t>Why it matters: </a:t>
            </a:r>
            <a:pPr indent="0" marL="0">
              <a:buNone/>
            </a:pPr>
            <a:r>
              <a:rPr lang="en-US" sz="1200" dirty="0">
                <a:solidFill>
                  <a:srgbClr val="FFFFFF"/>
                </a:solidFill>
                <a:latin typeface="Calibri" pitchFamily="34" charset="0"/>
                <a:ea typeface="Calibri" pitchFamily="34" charset="-122"/>
                <a:cs typeface="Calibri" pitchFamily="34" charset="-120"/>
              </a:rPr>
              <a:t>Replaces guess-and-check with a picture. Fewer mistakes, faster training.</a:t>
            </a:r>
            <a:endParaRPr lang="en-US" sz="1200" dirty="0"/>
          </a:p>
        </p:txBody>
      </p:sp>
      <p:sp>
        <p:nvSpPr>
          <p:cNvPr id="20" name="Text 16"/>
          <p:cNvSpPr/>
          <p:nvPr/>
        </p:nvSpPr>
        <p:spPr>
          <a:xfrm>
            <a:off x="365760" y="4846320"/>
            <a:ext cx="3657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Part 1 · Tools that boost productivity</a:t>
            </a:r>
            <a:endParaRPr lang="en-US" sz="900" dirty="0"/>
          </a:p>
        </p:txBody>
      </p:sp>
      <p:sp>
        <p:nvSpPr>
          <p:cNvPr id="21" name="Text 17"/>
          <p:cNvSpPr/>
          <p:nvPr/>
        </p:nvSpPr>
        <p:spPr>
          <a:xfrm>
            <a:off x="5120640" y="4846320"/>
            <a:ext cx="3108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dbHMS  ·  Nathan Raab</a:t>
            </a:r>
            <a:endParaRPr lang="en-US" sz="900" dirty="0"/>
          </a:p>
        </p:txBody>
      </p:sp>
      <p:sp>
        <p:nvSpPr>
          <p:cNvPr id="22" name="Text 18"/>
          <p:cNvSpPr/>
          <p:nvPr/>
        </p:nvSpPr>
        <p:spPr>
          <a:xfrm>
            <a:off x="8412480" y="4846320"/>
            <a:ext cx="54864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9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48640" cy="548640"/>
          </a:xfrm>
          <a:prstGeom prst="ellipse">
            <a:avLst/>
          </a:prstGeom>
          <a:solidFill>
            <a:srgbClr val="0D9488"/>
          </a:solidFill>
          <a:ln w="12700">
            <a:solidFill>
              <a:srgbClr val="0D9488"/>
            </a:solidFill>
            <a:prstDash val="solid"/>
          </a:ln>
        </p:spPr>
      </p:sp>
      <p:pic>
        <p:nvPicPr>
          <p:cNvPr id="3" name="Image 0" descr="preencoded.png">    </p:cNvPr>
          <p:cNvPicPr>
            <a:picLocks noChangeAspect="1"/>
          </p:cNvPicPr>
          <p:nvPr/>
        </p:nvPicPr>
        <p:blipFill>
          <a:blip r:embed="rId1"/>
          <a:stretch>
            <a:fillRect/>
          </a:stretch>
        </p:blipFill>
        <p:spPr>
          <a:xfrm>
            <a:off x="603504" y="484632"/>
            <a:ext cx="347472" cy="347472"/>
          </a:xfrm>
          <a:prstGeom prst="rect">
            <a:avLst/>
          </a:prstGeom>
        </p:spPr>
      </p:pic>
      <p:sp>
        <p:nvSpPr>
          <p:cNvPr id="4" name="Text 1"/>
          <p:cNvSpPr/>
          <p:nvPr/>
        </p:nvSpPr>
        <p:spPr>
          <a:xfrm>
            <a:off x="1143000" y="365760"/>
            <a:ext cx="6400800" cy="45720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View Templates Manager</a:t>
            </a:r>
            <a:endParaRPr lang="en-US" sz="2800" dirty="0"/>
          </a:p>
        </p:txBody>
      </p:sp>
      <p:sp>
        <p:nvSpPr>
          <p:cNvPr id="5" name="Text 2"/>
          <p:cNvSpPr/>
          <p:nvPr/>
        </p:nvSpPr>
        <p:spPr>
          <a:xfrm>
            <a:off x="1143000" y="777240"/>
            <a:ext cx="6400800" cy="27432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All-in-one view template editor with bulk-edit mode</a:t>
            </a:r>
            <a:endParaRPr lang="en-US" sz="1200" dirty="0"/>
          </a:p>
        </p:txBody>
      </p:sp>
      <p:sp>
        <p:nvSpPr>
          <p:cNvPr id="6" name="Shape 3"/>
          <p:cNvSpPr/>
          <p:nvPr/>
        </p:nvSpPr>
        <p:spPr>
          <a:xfrm>
            <a:off x="7223760" y="384048"/>
            <a:ext cx="1554480" cy="640080"/>
          </a:xfrm>
          <a:prstGeom prst="roundRect">
            <a:avLst>
              <a:gd name="adj" fmla="val 11429"/>
            </a:avLst>
          </a:prstGeom>
          <a:solidFill>
            <a:srgbClr val="FFEDD5"/>
          </a:solidFill>
          <a:ln w="12700">
            <a:solidFill>
              <a:srgbClr val="FFEDD5"/>
            </a:solidFill>
            <a:prstDash val="solid"/>
          </a:ln>
        </p:spPr>
      </p:sp>
      <p:pic>
        <p:nvPicPr>
          <p:cNvPr id="7" name="Image 1" descr="preencoded.png">    </p:cNvPr>
          <p:cNvPicPr>
            <a:picLocks noChangeAspect="1"/>
          </p:cNvPicPr>
          <p:nvPr/>
        </p:nvPicPr>
        <p:blipFill>
          <a:blip r:embed="rId2"/>
          <a:stretch>
            <a:fillRect/>
          </a:stretch>
        </p:blipFill>
        <p:spPr>
          <a:xfrm>
            <a:off x="7315200" y="548640"/>
            <a:ext cx="310896" cy="310896"/>
          </a:xfrm>
          <a:prstGeom prst="rect">
            <a:avLst/>
          </a:prstGeom>
        </p:spPr>
      </p:pic>
      <p:sp>
        <p:nvSpPr>
          <p:cNvPr id="8" name="Text 4"/>
          <p:cNvSpPr/>
          <p:nvPr/>
        </p:nvSpPr>
        <p:spPr>
          <a:xfrm>
            <a:off x="7680960" y="384048"/>
            <a:ext cx="1097280" cy="411480"/>
          </a:xfrm>
          <a:prstGeom prst="rect">
            <a:avLst/>
          </a:prstGeom>
          <a:noFill/>
          <a:ln/>
        </p:spPr>
        <p:txBody>
          <a:bodyPr wrap="square" lIns="0" tIns="0" rIns="0" bIns="0" rtlCol="0" anchor="ctr"/>
          <a:lstStyle/>
          <a:p>
            <a:pPr algn="ctr" indent="0" marL="0">
              <a:buNone/>
            </a:pPr>
            <a:r>
              <a:rPr lang="en-US" sz="2200" b="1" dirty="0">
                <a:solidFill>
                  <a:srgbClr val="EA580C"/>
                </a:solidFill>
                <a:latin typeface="Georgia" pitchFamily="34" charset="0"/>
                <a:ea typeface="Georgia" pitchFamily="34" charset="-122"/>
                <a:cs typeface="Georgia" pitchFamily="34" charset="-120"/>
              </a:rPr>
              <a:t>~1h</a:t>
            </a:r>
            <a:endParaRPr lang="en-US" sz="2200" dirty="0"/>
          </a:p>
        </p:txBody>
      </p:sp>
      <p:sp>
        <p:nvSpPr>
          <p:cNvPr id="9" name="Text 5"/>
          <p:cNvSpPr/>
          <p:nvPr/>
        </p:nvSpPr>
        <p:spPr>
          <a:xfrm>
            <a:off x="7315200" y="777240"/>
            <a:ext cx="1463040" cy="228600"/>
          </a:xfrm>
          <a:prstGeom prst="rect">
            <a:avLst/>
          </a:prstGeom>
          <a:noFill/>
          <a:ln/>
        </p:spPr>
        <p:txBody>
          <a:bodyPr wrap="square" lIns="0" tIns="0" rIns="0" bIns="0" rtlCol="0" anchor="ctr"/>
          <a:lstStyle/>
          <a:p>
            <a:pPr algn="ctr" indent="0" marL="0">
              <a:buNone/>
            </a:pPr>
            <a:r>
              <a:rPr lang="en-US" sz="900" dirty="0">
                <a:solidFill>
                  <a:srgbClr val="EA580C"/>
                </a:solidFill>
                <a:latin typeface="Calibri" pitchFamily="34" charset="0"/>
                <a:ea typeface="Calibri" pitchFamily="34" charset="-122"/>
                <a:cs typeface="Calibri" pitchFamily="34" charset="-120"/>
              </a:rPr>
              <a:t>per project</a:t>
            </a:r>
            <a:endParaRPr lang="en-US" sz="900" dirty="0"/>
          </a:p>
        </p:txBody>
      </p:sp>
      <p:sp>
        <p:nvSpPr>
          <p:cNvPr id="10" name="Shape 6"/>
          <p:cNvSpPr/>
          <p:nvPr/>
        </p:nvSpPr>
        <p:spPr>
          <a:xfrm>
            <a:off x="457200" y="1280160"/>
            <a:ext cx="3749040" cy="365760"/>
          </a:xfrm>
          <a:prstGeom prst="rect">
            <a:avLst/>
          </a:prstGeom>
          <a:solidFill>
            <a:srgbClr val="FEE2E2"/>
          </a:solidFill>
          <a:ln w="12700">
            <a:solidFill>
              <a:srgbClr val="FEE2E2"/>
            </a:solidFill>
            <a:prstDash val="solid"/>
          </a:ln>
        </p:spPr>
      </p:sp>
      <p:sp>
        <p:nvSpPr>
          <p:cNvPr id="11" name="Text 7"/>
          <p:cNvSpPr/>
          <p:nvPr/>
        </p:nvSpPr>
        <p:spPr>
          <a:xfrm>
            <a:off x="594360" y="1280160"/>
            <a:ext cx="3474720" cy="365760"/>
          </a:xfrm>
          <a:prstGeom prst="rect">
            <a:avLst/>
          </a:prstGeom>
          <a:noFill/>
          <a:ln/>
        </p:spPr>
        <p:txBody>
          <a:bodyPr wrap="square" lIns="0" tIns="0" rIns="0" bIns="0" rtlCol="0" anchor="ctr"/>
          <a:lstStyle/>
          <a:p>
            <a:pPr indent="0" marL="0">
              <a:buNone/>
            </a:pPr>
            <a:r>
              <a:rPr lang="en-US" sz="1100" b="1" spc="400" kern="0" dirty="0">
                <a:solidFill>
                  <a:srgbClr val="B91C1C"/>
                </a:solidFill>
                <a:latin typeface="Calibri" pitchFamily="34" charset="0"/>
                <a:ea typeface="Calibri" pitchFamily="34" charset="-122"/>
                <a:cs typeface="Calibri" pitchFamily="34" charset="-120"/>
              </a:rPr>
              <a:t>BEFORE</a:t>
            </a:r>
            <a:endParaRPr lang="en-US" sz="1100" dirty="0"/>
          </a:p>
        </p:txBody>
      </p:sp>
      <p:sp>
        <p:nvSpPr>
          <p:cNvPr id="12" name="Shape 8"/>
          <p:cNvSpPr/>
          <p:nvPr/>
        </p:nvSpPr>
        <p:spPr>
          <a:xfrm>
            <a:off x="4937760" y="1280160"/>
            <a:ext cx="3749040" cy="365760"/>
          </a:xfrm>
          <a:prstGeom prst="rect">
            <a:avLst/>
          </a:prstGeom>
          <a:solidFill>
            <a:srgbClr val="CCFBF1"/>
          </a:solidFill>
          <a:ln w="12700">
            <a:solidFill>
              <a:srgbClr val="CCFBF1"/>
            </a:solidFill>
            <a:prstDash val="solid"/>
          </a:ln>
        </p:spPr>
      </p:sp>
      <p:sp>
        <p:nvSpPr>
          <p:cNvPr id="13" name="Text 9"/>
          <p:cNvSpPr/>
          <p:nvPr/>
        </p:nvSpPr>
        <p:spPr>
          <a:xfrm>
            <a:off x="5074920" y="1280160"/>
            <a:ext cx="3474720" cy="365760"/>
          </a:xfrm>
          <a:prstGeom prst="rect">
            <a:avLst/>
          </a:prstGeom>
          <a:noFill/>
          <a:ln/>
        </p:spPr>
        <p:txBody>
          <a:bodyPr wrap="square" lIns="0" tIns="0" rIns="0" bIns="0" rtlCol="0" anchor="ctr"/>
          <a:lstStyle/>
          <a:p>
            <a:pPr indent="0" marL="0">
              <a:buNone/>
            </a:pPr>
            <a:r>
              <a:rPr lang="en-US" sz="1100" b="1" spc="400" kern="0" dirty="0">
                <a:solidFill>
                  <a:srgbClr val="115E59"/>
                </a:solidFill>
                <a:latin typeface="Calibri" pitchFamily="34" charset="0"/>
                <a:ea typeface="Calibri" pitchFamily="34" charset="-122"/>
                <a:cs typeface="Calibri" pitchFamily="34" charset="-120"/>
              </a:rPr>
              <a:t>WITH THE TOOL</a:t>
            </a:r>
            <a:endParaRPr lang="en-US" sz="1100" dirty="0"/>
          </a:p>
        </p:txBody>
      </p:sp>
      <p:sp>
        <p:nvSpPr>
          <p:cNvPr id="14" name="Shape 10"/>
          <p:cNvSpPr/>
          <p:nvPr/>
        </p:nvSpPr>
        <p:spPr>
          <a:xfrm>
            <a:off x="4370832" y="2400300"/>
            <a:ext cx="402336" cy="411480"/>
          </a:xfrm>
          <a:prstGeom prst="rightArrow">
            <a:avLst/>
          </a:prstGeom>
          <a:solidFill>
            <a:srgbClr val="0D9488"/>
          </a:solidFill>
          <a:ln w="12700">
            <a:solidFill>
              <a:srgbClr val="0D9488"/>
            </a:solidFill>
            <a:prstDash val="solid"/>
          </a:ln>
        </p:spPr>
      </p:sp>
      <p:sp>
        <p:nvSpPr>
          <p:cNvPr id="15" name="Text 11"/>
          <p:cNvSpPr/>
          <p:nvPr/>
        </p:nvSpPr>
        <p:spPr>
          <a:xfrm>
            <a:off x="457200" y="1737360"/>
            <a:ext cx="3749040" cy="2011680"/>
          </a:xfrm>
          <a:prstGeom prst="rect">
            <a:avLst/>
          </a:prstGeom>
          <a:noFill/>
          <a:ln/>
        </p:spPr>
        <p:txBody>
          <a:bodyPr wrap="square" rtlCol="0" anchor="t"/>
          <a:lstStyle/>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Open each template, one at a time, in Revit's editor</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Compare settings by clicking back and forth</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Re-do the same change for every affected template</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No way to bulk-update across templates</a:t>
            </a:r>
            <a:endParaRPr lang="en-US" sz="1200" dirty="0"/>
          </a:p>
        </p:txBody>
      </p:sp>
      <p:sp>
        <p:nvSpPr>
          <p:cNvPr id="16" name="Text 12"/>
          <p:cNvSpPr/>
          <p:nvPr/>
        </p:nvSpPr>
        <p:spPr>
          <a:xfrm>
            <a:off x="4937760" y="1737360"/>
            <a:ext cx="3749040" cy="2011680"/>
          </a:xfrm>
          <a:prstGeom prst="rect">
            <a:avLst/>
          </a:prstGeom>
          <a:noFill/>
          <a:ln/>
        </p:spPr>
        <p:txBody>
          <a:bodyPr wrap="square"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All templates in one list with multi-select</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Tabbed editor: Properties / VG / Links / Usage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Single-edit when 1 template is checked</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Bulk-override mode kicks in when 2+ are checked</a:t>
            </a:r>
            <a:endParaRPr lang="en-US" sz="1200" dirty="0"/>
          </a:p>
        </p:txBody>
      </p:sp>
      <p:sp>
        <p:nvSpPr>
          <p:cNvPr id="17" name="Shape 13"/>
          <p:cNvSpPr/>
          <p:nvPr/>
        </p:nvSpPr>
        <p:spPr>
          <a:xfrm>
            <a:off x="457200" y="3977640"/>
            <a:ext cx="8229600" cy="640080"/>
          </a:xfrm>
          <a:prstGeom prst="rect">
            <a:avLst/>
          </a:prstGeom>
          <a:solidFill>
            <a:srgbClr val="1E293B"/>
          </a:solidFill>
          <a:ln w="12700">
            <a:solidFill>
              <a:srgbClr val="1E293B"/>
            </a:solidFill>
            <a:prstDash val="solid"/>
          </a:ln>
        </p:spPr>
      </p:sp>
      <p:sp>
        <p:nvSpPr>
          <p:cNvPr id="18" name="Shape 14"/>
          <p:cNvSpPr/>
          <p:nvPr/>
        </p:nvSpPr>
        <p:spPr>
          <a:xfrm>
            <a:off x="457200" y="3977640"/>
            <a:ext cx="73152" cy="640080"/>
          </a:xfrm>
          <a:prstGeom prst="rect">
            <a:avLst/>
          </a:prstGeom>
          <a:solidFill>
            <a:srgbClr val="EA580C"/>
          </a:solidFill>
          <a:ln w="12700">
            <a:solidFill>
              <a:srgbClr val="EA580C"/>
            </a:solidFill>
            <a:prstDash val="solid"/>
          </a:ln>
        </p:spPr>
      </p:sp>
      <p:sp>
        <p:nvSpPr>
          <p:cNvPr id="19" name="Text 15"/>
          <p:cNvSpPr/>
          <p:nvPr/>
        </p:nvSpPr>
        <p:spPr>
          <a:xfrm>
            <a:off x="685800" y="3977640"/>
            <a:ext cx="7863840" cy="640080"/>
          </a:xfrm>
          <a:prstGeom prst="rect">
            <a:avLst/>
          </a:prstGeom>
          <a:noFill/>
          <a:ln/>
        </p:spPr>
        <p:txBody>
          <a:bodyPr wrap="square" lIns="0" tIns="0" rIns="0" bIns="0" rtlCol="0" anchor="ctr"/>
          <a:lstStyle/>
          <a:p>
            <a:pPr indent="0" marL="0">
              <a:buNone/>
            </a:pPr>
            <a:r>
              <a:rPr lang="en-US" sz="1200" b="1" dirty="0">
                <a:solidFill>
                  <a:srgbClr val="EA580C"/>
                </a:solidFill>
                <a:latin typeface="Calibri" pitchFamily="34" charset="0"/>
                <a:ea typeface="Calibri" pitchFamily="34" charset="-122"/>
                <a:cs typeface="Calibri" pitchFamily="34" charset="-120"/>
              </a:rPr>
              <a:t>Why it matters: </a:t>
            </a:r>
            <a:pPr indent="0" marL="0">
              <a:buNone/>
            </a:pPr>
            <a:r>
              <a:rPr lang="en-US" sz="1200" dirty="0">
                <a:solidFill>
                  <a:srgbClr val="FFFFFF"/>
                </a:solidFill>
                <a:latin typeface="Calibri" pitchFamily="34" charset="0"/>
                <a:ea typeface="Calibri" pitchFamily="34" charset="-122"/>
                <a:cs typeface="Calibri" pitchFamily="34" charset="-120"/>
              </a:rPr>
              <a:t>Standardization that used to take a day collapses into an afternoon.</a:t>
            </a:r>
            <a:endParaRPr lang="en-US" sz="1200" dirty="0"/>
          </a:p>
        </p:txBody>
      </p:sp>
      <p:sp>
        <p:nvSpPr>
          <p:cNvPr id="20" name="Text 16"/>
          <p:cNvSpPr/>
          <p:nvPr/>
        </p:nvSpPr>
        <p:spPr>
          <a:xfrm>
            <a:off x="365760" y="4846320"/>
            <a:ext cx="3657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Part 1 · Tools that boost productivity</a:t>
            </a:r>
            <a:endParaRPr lang="en-US" sz="900" dirty="0"/>
          </a:p>
        </p:txBody>
      </p:sp>
      <p:sp>
        <p:nvSpPr>
          <p:cNvPr id="21" name="Text 17"/>
          <p:cNvSpPr/>
          <p:nvPr/>
        </p:nvSpPr>
        <p:spPr>
          <a:xfrm>
            <a:off x="5120640" y="4846320"/>
            <a:ext cx="3108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dbHMS  ·  Nathan Raab</a:t>
            </a:r>
            <a:endParaRPr lang="en-US" sz="900" dirty="0"/>
          </a:p>
        </p:txBody>
      </p:sp>
      <p:sp>
        <p:nvSpPr>
          <p:cNvPr id="22" name="Text 18"/>
          <p:cNvSpPr/>
          <p:nvPr/>
        </p:nvSpPr>
        <p:spPr>
          <a:xfrm>
            <a:off x="8412480" y="4846320"/>
            <a:ext cx="54864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10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8229600" cy="594360"/>
          </a:xfrm>
          <a:prstGeom prst="rect">
            <a:avLst/>
          </a:prstGeom>
          <a:noFill/>
          <a:ln/>
        </p:spPr>
        <p:txBody>
          <a:bodyPr wrap="square" lIns="0" tIns="0" rIns="0" bIns="0" rtlCol="0" anchor="ctr"/>
          <a:lstStyle/>
          <a:p>
            <a:pPr indent="0" marL="0">
              <a:buNone/>
            </a:pPr>
            <a:r>
              <a:rPr lang="en-US" sz="3000" b="1" dirty="0">
                <a:solidFill>
                  <a:srgbClr val="1E293B"/>
                </a:solidFill>
                <a:latin typeface="Georgia" pitchFamily="34" charset="0"/>
                <a:ea typeface="Georgia" pitchFamily="34" charset="-122"/>
                <a:cs typeface="Georgia" pitchFamily="34" charset="-120"/>
              </a:rPr>
              <a:t>Hours back, per project</a:t>
            </a:r>
            <a:endParaRPr lang="en-US" sz="3000" dirty="0"/>
          </a:p>
        </p:txBody>
      </p:sp>
      <p:sp>
        <p:nvSpPr>
          <p:cNvPr id="3" name="Text 1"/>
          <p:cNvSpPr/>
          <p:nvPr/>
        </p:nvSpPr>
        <p:spPr>
          <a:xfrm>
            <a:off x="548640" y="868680"/>
            <a:ext cx="8229600" cy="3200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Conservative estimate per typical mid-size project. Multiplied across the firm's project pipeline, the numbers compound.</a:t>
            </a:r>
            <a:endParaRPr lang="en-US" sz="1200" dirty="0"/>
          </a:p>
        </p:txBody>
      </p:sp>
      <p:graphicFrame>
        <p:nvGraphicFramePr>
          <p:cNvPr id="4" name="Chart 0" descr=""/>
          <p:cNvGraphicFramePr/>
          <p:nvPr/>
        </p:nvGraphicFramePr>
        <p:xfrm>
          <a:off x="548640" y="1371600"/>
          <a:ext cx="5120640" cy="31089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035040" y="1371600"/>
            <a:ext cx="2743200" cy="3108960"/>
          </a:xfrm>
          <a:prstGeom prst="rect">
            <a:avLst/>
          </a:prstGeom>
          <a:solidFill>
            <a:srgbClr val="1E293B"/>
          </a:solidFill>
          <a:ln w="12700">
            <a:solidFill>
              <a:srgbClr val="1E293B"/>
            </a:solidFill>
            <a:prstDash val="solid"/>
          </a:ln>
        </p:spPr>
      </p:sp>
      <p:sp>
        <p:nvSpPr>
          <p:cNvPr id="6" name="Shape 3"/>
          <p:cNvSpPr/>
          <p:nvPr/>
        </p:nvSpPr>
        <p:spPr>
          <a:xfrm>
            <a:off x="6035040" y="1371600"/>
            <a:ext cx="2743200" cy="73152"/>
          </a:xfrm>
          <a:prstGeom prst="rect">
            <a:avLst/>
          </a:prstGeom>
          <a:solidFill>
            <a:srgbClr val="EA580C"/>
          </a:solidFill>
          <a:ln w="12700">
            <a:solidFill>
              <a:srgbClr val="EA580C"/>
            </a:solidFill>
            <a:prstDash val="solid"/>
          </a:ln>
        </p:spPr>
      </p:sp>
      <p:sp>
        <p:nvSpPr>
          <p:cNvPr id="7" name="Text 4"/>
          <p:cNvSpPr/>
          <p:nvPr/>
        </p:nvSpPr>
        <p:spPr>
          <a:xfrm>
            <a:off x="6126480" y="1554480"/>
            <a:ext cx="2560320" cy="365760"/>
          </a:xfrm>
          <a:prstGeom prst="rect">
            <a:avLst/>
          </a:prstGeom>
          <a:noFill/>
          <a:ln/>
        </p:spPr>
        <p:txBody>
          <a:bodyPr wrap="square" lIns="0" tIns="0" rIns="0" bIns="0" rtlCol="0" anchor="ctr"/>
          <a:lstStyle/>
          <a:p>
            <a:pPr algn="ctr" indent="0" marL="0">
              <a:buNone/>
            </a:pPr>
            <a:r>
              <a:rPr lang="en-US" sz="1100" b="1" spc="600" kern="0" dirty="0">
                <a:solidFill>
                  <a:srgbClr val="CCFBF1"/>
                </a:solidFill>
                <a:latin typeface="Calibri" pitchFamily="34" charset="0"/>
                <a:ea typeface="Calibri" pitchFamily="34" charset="-122"/>
                <a:cs typeface="Calibri" pitchFamily="34" charset="-120"/>
              </a:rPr>
              <a:t>TOTAL, ONE PROJECT</a:t>
            </a:r>
            <a:endParaRPr lang="en-US" sz="1100" dirty="0"/>
          </a:p>
        </p:txBody>
      </p:sp>
      <p:sp>
        <p:nvSpPr>
          <p:cNvPr id="8" name="Text 5"/>
          <p:cNvSpPr/>
          <p:nvPr/>
        </p:nvSpPr>
        <p:spPr>
          <a:xfrm>
            <a:off x="6126480" y="1965960"/>
            <a:ext cx="2743200" cy="1554480"/>
          </a:xfrm>
          <a:prstGeom prst="rect">
            <a:avLst/>
          </a:prstGeom>
          <a:noFill/>
          <a:ln/>
        </p:spPr>
        <p:txBody>
          <a:bodyPr wrap="square" lIns="0" tIns="0" rIns="0" bIns="0" rtlCol="0" anchor="ctr"/>
          <a:lstStyle/>
          <a:p>
            <a:pPr algn="ctr" indent="0" marL="0">
              <a:buNone/>
            </a:pPr>
            <a:r>
              <a:rPr lang="en-US" sz="7200" b="1" dirty="0">
                <a:solidFill>
                  <a:srgbClr val="FFFFFF"/>
                </a:solidFill>
                <a:latin typeface="Georgia" pitchFamily="34" charset="0"/>
                <a:ea typeface="Georgia" pitchFamily="34" charset="-122"/>
                <a:cs typeface="Georgia" pitchFamily="34" charset="-120"/>
              </a:rPr>
              <a:t>~12</a:t>
            </a:r>
            <a:endParaRPr lang="en-US" sz="7200" dirty="0"/>
          </a:p>
        </p:txBody>
      </p:sp>
      <p:sp>
        <p:nvSpPr>
          <p:cNvPr id="9" name="Text 6"/>
          <p:cNvSpPr/>
          <p:nvPr/>
        </p:nvSpPr>
        <p:spPr>
          <a:xfrm>
            <a:off x="6126480" y="3611880"/>
            <a:ext cx="2560320" cy="32004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engineer-hours saved</a:t>
            </a:r>
            <a:endParaRPr lang="en-US" sz="1300" dirty="0"/>
          </a:p>
        </p:txBody>
      </p:sp>
      <p:sp>
        <p:nvSpPr>
          <p:cNvPr id="10" name="Text 7"/>
          <p:cNvSpPr/>
          <p:nvPr/>
        </p:nvSpPr>
        <p:spPr>
          <a:xfrm>
            <a:off x="6126480" y="4023360"/>
            <a:ext cx="2560320" cy="365760"/>
          </a:xfrm>
          <a:prstGeom prst="rect">
            <a:avLst/>
          </a:prstGeom>
          <a:noFill/>
          <a:ln/>
        </p:spPr>
        <p:txBody>
          <a:bodyPr wrap="square" lIns="0" tIns="0" rIns="0" bIns="0" rtlCol="0" anchor="ctr"/>
          <a:lstStyle/>
          <a:p>
            <a:pPr algn="ctr" indent="0" marL="0">
              <a:buNone/>
            </a:pPr>
            <a:r>
              <a:rPr lang="en-US" sz="1200" i="1" dirty="0">
                <a:solidFill>
                  <a:srgbClr val="CADCFC"/>
                </a:solidFill>
                <a:latin typeface="Calibri" pitchFamily="34" charset="0"/>
                <a:ea typeface="Calibri" pitchFamily="34" charset="-122"/>
                <a:cs typeface="Calibri" pitchFamily="34" charset="-120"/>
              </a:rPr>
              <a:t>× every project the firm runs</a:t>
            </a:r>
            <a:endParaRPr lang="en-US" sz="1200" dirty="0"/>
          </a:p>
        </p:txBody>
      </p:sp>
      <p:sp>
        <p:nvSpPr>
          <p:cNvPr id="11" name="Text 8"/>
          <p:cNvSpPr/>
          <p:nvPr/>
        </p:nvSpPr>
        <p:spPr>
          <a:xfrm>
            <a:off x="365760" y="4846320"/>
            <a:ext cx="3657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Part 1 · Tools that boost productivity</a:t>
            </a:r>
            <a:endParaRPr lang="en-US" sz="900" dirty="0"/>
          </a:p>
        </p:txBody>
      </p:sp>
      <p:sp>
        <p:nvSpPr>
          <p:cNvPr id="12" name="Text 9"/>
          <p:cNvSpPr/>
          <p:nvPr/>
        </p:nvSpPr>
        <p:spPr>
          <a:xfrm>
            <a:off x="5120640" y="4846320"/>
            <a:ext cx="3108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dbHMS  ·  Nathan Raab</a:t>
            </a:r>
            <a:endParaRPr lang="en-US" sz="900" dirty="0"/>
          </a:p>
        </p:txBody>
      </p:sp>
      <p:sp>
        <p:nvSpPr>
          <p:cNvPr id="13" name="Text 10"/>
          <p:cNvSpPr/>
          <p:nvPr/>
        </p:nvSpPr>
        <p:spPr>
          <a:xfrm>
            <a:off x="8412480" y="4846320"/>
            <a:ext cx="54864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11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548640" y="1371600"/>
            <a:ext cx="8229600" cy="365760"/>
          </a:xfrm>
          <a:prstGeom prst="rect">
            <a:avLst/>
          </a:prstGeom>
          <a:noFill/>
          <a:ln/>
        </p:spPr>
        <p:txBody>
          <a:bodyPr wrap="square" lIns="0" tIns="0" rIns="0" bIns="0" rtlCol="0" anchor="ctr"/>
          <a:lstStyle/>
          <a:p>
            <a:pPr indent="0" marL="0">
              <a:buNone/>
            </a:pPr>
            <a:r>
              <a:rPr lang="en-US" sz="1400" b="1" spc="1000" kern="0" dirty="0">
                <a:solidFill>
                  <a:srgbClr val="0D9488"/>
                </a:solidFill>
                <a:latin typeface="Calibri" pitchFamily="34" charset="0"/>
                <a:ea typeface="Calibri" pitchFamily="34" charset="-122"/>
                <a:cs typeface="Calibri" pitchFamily="34" charset="-120"/>
              </a:rPr>
              <a:t>PART 2</a:t>
            </a:r>
            <a:endParaRPr lang="en-US" sz="1400" dirty="0"/>
          </a:p>
        </p:txBody>
      </p:sp>
      <p:sp>
        <p:nvSpPr>
          <p:cNvPr id="3" name="Text 1"/>
          <p:cNvSpPr/>
          <p:nvPr/>
        </p:nvSpPr>
        <p:spPr>
          <a:xfrm>
            <a:off x="548640" y="1828800"/>
            <a:ext cx="8229600" cy="1645920"/>
          </a:xfrm>
          <a:prstGeom prst="rect">
            <a:avLst/>
          </a:prstGeom>
          <a:noFill/>
          <a:ln/>
        </p:spPr>
        <p:txBody>
          <a:bodyPr wrap="square" lIns="0" tIns="0" rIns="0" bIns="0" rtlCol="0" anchor="ctr"/>
          <a:lstStyle/>
          <a:p>
            <a:pPr indent="0" marL="0">
              <a:lnSpc>
                <a:spcPct val="100000"/>
              </a:lnSpc>
              <a:buNone/>
            </a:pPr>
            <a:r>
              <a:rPr lang="en-US" sz="4800" b="1" dirty="0">
                <a:solidFill>
                  <a:srgbClr val="FFFFFF"/>
                </a:solidFill>
                <a:latin typeface="Georgia" pitchFamily="34" charset="0"/>
                <a:ea typeface="Georgia" pitchFamily="34" charset="-122"/>
                <a:cs typeface="Georgia" pitchFamily="34" charset="-120"/>
              </a:rPr>
              <a:t>All of this was</a:t>
            </a:r>
            <a:endParaRPr lang="en-US" sz="4800" dirty="0"/>
          </a:p>
          <a:p>
            <a:pPr indent="0" marL="0">
              <a:lnSpc>
                <a:spcPct val="100000"/>
              </a:lnSpc>
              <a:buNone/>
            </a:pPr>
            <a:r>
              <a:rPr lang="en-US" sz="4800" b="1" dirty="0">
                <a:solidFill>
                  <a:srgbClr val="FFFFFF"/>
                </a:solidFill>
                <a:latin typeface="Georgia" pitchFamily="34" charset="0"/>
                <a:ea typeface="Georgia" pitchFamily="34" charset="-122"/>
                <a:cs typeface="Georgia" pitchFamily="34" charset="-120"/>
              </a:rPr>
              <a:t>built with AI.</a:t>
            </a:r>
            <a:endParaRPr lang="en-US" sz="4800" dirty="0"/>
          </a:p>
        </p:txBody>
      </p:sp>
      <p:sp>
        <p:nvSpPr>
          <p:cNvPr id="4" name="Text 2"/>
          <p:cNvSpPr/>
          <p:nvPr/>
        </p:nvSpPr>
        <p:spPr>
          <a:xfrm>
            <a:off x="548640" y="3566160"/>
            <a:ext cx="8229600" cy="45720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That's not an aside — it's the most important slide in this deck.</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229600" cy="45720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Anyone who knows the work can build the tool</a:t>
            </a:r>
            <a:endParaRPr lang="en-US" sz="2400" dirty="0"/>
          </a:p>
        </p:txBody>
      </p:sp>
      <p:sp>
        <p:nvSpPr>
          <p:cNvPr id="3" name="Text 1"/>
          <p:cNvSpPr/>
          <p:nvPr/>
        </p:nvSpPr>
        <p:spPr>
          <a:xfrm>
            <a:off x="548640" y="822960"/>
            <a:ext cx="8229600" cy="3200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AI collapses the gap between 'I wish this existed' and 'here it is.'</a:t>
            </a:r>
            <a:endParaRPr lang="en-US" sz="1300" dirty="0"/>
          </a:p>
        </p:txBody>
      </p:sp>
      <p:sp>
        <p:nvSpPr>
          <p:cNvPr id="4" name="Shape 2"/>
          <p:cNvSpPr/>
          <p:nvPr/>
        </p:nvSpPr>
        <p:spPr>
          <a:xfrm>
            <a:off x="457200" y="1417320"/>
            <a:ext cx="4023360" cy="3063240"/>
          </a:xfrm>
          <a:prstGeom prst="rect">
            <a:avLst/>
          </a:prstGeom>
          <a:solidFill>
            <a:srgbClr val="F8FAFC"/>
          </a:solidFill>
          <a:ln w="12700">
            <a:solidFill>
              <a:srgbClr val="E2E8F0"/>
            </a:solidFill>
            <a:prstDash val="solid"/>
          </a:ln>
        </p:spPr>
      </p:sp>
      <p:sp>
        <p:nvSpPr>
          <p:cNvPr id="5" name="Text 3"/>
          <p:cNvSpPr/>
          <p:nvPr/>
        </p:nvSpPr>
        <p:spPr>
          <a:xfrm>
            <a:off x="640080" y="1554480"/>
            <a:ext cx="3657600" cy="320040"/>
          </a:xfrm>
          <a:prstGeom prst="rect">
            <a:avLst/>
          </a:prstGeom>
          <a:noFill/>
          <a:ln/>
        </p:spPr>
        <p:txBody>
          <a:bodyPr wrap="square" lIns="0" tIns="0" rIns="0" bIns="0" rtlCol="0" anchor="ctr"/>
          <a:lstStyle/>
          <a:p>
            <a:pPr indent="0" marL="0">
              <a:buNone/>
            </a:pPr>
            <a:r>
              <a:rPr lang="en-US" sz="1400" b="1" spc="400" kern="0" dirty="0">
                <a:solidFill>
                  <a:srgbClr val="64748B"/>
                </a:solidFill>
                <a:latin typeface="Calibri" pitchFamily="34" charset="0"/>
                <a:ea typeface="Calibri" pitchFamily="34" charset="-122"/>
                <a:cs typeface="Calibri" pitchFamily="34" charset="-120"/>
              </a:rPr>
              <a:t>Old path</a:t>
            </a:r>
            <a:endParaRPr lang="en-US" sz="1400" dirty="0"/>
          </a:p>
        </p:txBody>
      </p:sp>
      <p:sp>
        <p:nvSpPr>
          <p:cNvPr id="6" name="Shape 4"/>
          <p:cNvSpPr/>
          <p:nvPr/>
        </p:nvSpPr>
        <p:spPr>
          <a:xfrm>
            <a:off x="640080" y="1965960"/>
            <a:ext cx="201168" cy="201168"/>
          </a:xfrm>
          <a:prstGeom prst="ellipse">
            <a:avLst/>
          </a:prstGeom>
          <a:solidFill>
            <a:srgbClr val="94A3B8"/>
          </a:solidFill>
          <a:ln w="12700">
            <a:solidFill>
              <a:srgbClr val="94A3B8"/>
            </a:solidFill>
            <a:prstDash val="solid"/>
          </a:ln>
        </p:spPr>
      </p:sp>
      <p:sp>
        <p:nvSpPr>
          <p:cNvPr id="7" name="Text 5"/>
          <p:cNvSpPr/>
          <p:nvPr/>
        </p:nvSpPr>
        <p:spPr>
          <a:xfrm>
            <a:off x="914400" y="1920240"/>
            <a:ext cx="3474720" cy="292608"/>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Engineer notices a pain point</a:t>
            </a:r>
            <a:endParaRPr lang="en-US" sz="1100" dirty="0"/>
          </a:p>
        </p:txBody>
      </p:sp>
      <p:sp>
        <p:nvSpPr>
          <p:cNvPr id="8" name="Shape 6"/>
          <p:cNvSpPr/>
          <p:nvPr/>
        </p:nvSpPr>
        <p:spPr>
          <a:xfrm>
            <a:off x="640080" y="2331720"/>
            <a:ext cx="201168" cy="201168"/>
          </a:xfrm>
          <a:prstGeom prst="ellipse">
            <a:avLst/>
          </a:prstGeom>
          <a:solidFill>
            <a:srgbClr val="94A3B8"/>
          </a:solidFill>
          <a:ln w="12700">
            <a:solidFill>
              <a:srgbClr val="94A3B8"/>
            </a:solidFill>
            <a:prstDash val="solid"/>
          </a:ln>
        </p:spPr>
      </p:sp>
      <p:sp>
        <p:nvSpPr>
          <p:cNvPr id="9" name="Text 7"/>
          <p:cNvSpPr/>
          <p:nvPr/>
        </p:nvSpPr>
        <p:spPr>
          <a:xfrm>
            <a:off x="914400" y="2286000"/>
            <a:ext cx="3474720" cy="292608"/>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Files an IT ticket</a:t>
            </a:r>
            <a:endParaRPr lang="en-US" sz="1100" dirty="0"/>
          </a:p>
        </p:txBody>
      </p:sp>
      <p:sp>
        <p:nvSpPr>
          <p:cNvPr id="10" name="Shape 8"/>
          <p:cNvSpPr/>
          <p:nvPr/>
        </p:nvSpPr>
        <p:spPr>
          <a:xfrm>
            <a:off x="640080" y="2697480"/>
            <a:ext cx="201168" cy="201168"/>
          </a:xfrm>
          <a:prstGeom prst="ellipse">
            <a:avLst/>
          </a:prstGeom>
          <a:solidFill>
            <a:srgbClr val="94A3B8"/>
          </a:solidFill>
          <a:ln w="12700">
            <a:solidFill>
              <a:srgbClr val="94A3B8"/>
            </a:solidFill>
            <a:prstDash val="solid"/>
          </a:ln>
        </p:spPr>
      </p:sp>
      <p:sp>
        <p:nvSpPr>
          <p:cNvPr id="11" name="Text 9"/>
          <p:cNvSpPr/>
          <p:nvPr/>
        </p:nvSpPr>
        <p:spPr>
          <a:xfrm>
            <a:off x="914400" y="2651760"/>
            <a:ext cx="3474720" cy="292608"/>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Wait for budget / dev time</a:t>
            </a:r>
            <a:endParaRPr lang="en-US" sz="1100" dirty="0"/>
          </a:p>
        </p:txBody>
      </p:sp>
      <p:sp>
        <p:nvSpPr>
          <p:cNvPr id="12" name="Shape 10"/>
          <p:cNvSpPr/>
          <p:nvPr/>
        </p:nvSpPr>
        <p:spPr>
          <a:xfrm>
            <a:off x="640080" y="3063240"/>
            <a:ext cx="201168" cy="201168"/>
          </a:xfrm>
          <a:prstGeom prst="ellipse">
            <a:avLst/>
          </a:prstGeom>
          <a:solidFill>
            <a:srgbClr val="94A3B8"/>
          </a:solidFill>
          <a:ln w="12700">
            <a:solidFill>
              <a:srgbClr val="94A3B8"/>
            </a:solidFill>
            <a:prstDash val="solid"/>
          </a:ln>
        </p:spPr>
      </p:sp>
      <p:sp>
        <p:nvSpPr>
          <p:cNvPr id="13" name="Text 11"/>
          <p:cNvSpPr/>
          <p:nvPr/>
        </p:nvSpPr>
        <p:spPr>
          <a:xfrm>
            <a:off x="914400" y="3017520"/>
            <a:ext cx="3474720" cy="292608"/>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Hand off requirements</a:t>
            </a:r>
            <a:endParaRPr lang="en-US" sz="1100" dirty="0"/>
          </a:p>
        </p:txBody>
      </p:sp>
      <p:sp>
        <p:nvSpPr>
          <p:cNvPr id="14" name="Shape 12"/>
          <p:cNvSpPr/>
          <p:nvPr/>
        </p:nvSpPr>
        <p:spPr>
          <a:xfrm>
            <a:off x="640080" y="3429000"/>
            <a:ext cx="201168" cy="201168"/>
          </a:xfrm>
          <a:prstGeom prst="ellipse">
            <a:avLst/>
          </a:prstGeom>
          <a:solidFill>
            <a:srgbClr val="94A3B8"/>
          </a:solidFill>
          <a:ln w="12700">
            <a:solidFill>
              <a:srgbClr val="94A3B8"/>
            </a:solidFill>
            <a:prstDash val="solid"/>
          </a:ln>
        </p:spPr>
      </p:sp>
      <p:sp>
        <p:nvSpPr>
          <p:cNvPr id="15" name="Text 13"/>
          <p:cNvSpPr/>
          <p:nvPr/>
        </p:nvSpPr>
        <p:spPr>
          <a:xfrm>
            <a:off x="914400" y="3383280"/>
            <a:ext cx="3474720" cy="292608"/>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Tool ships — months later</a:t>
            </a:r>
            <a:endParaRPr lang="en-US" sz="1100" dirty="0"/>
          </a:p>
        </p:txBody>
      </p:sp>
      <p:sp>
        <p:nvSpPr>
          <p:cNvPr id="16" name="Shape 14"/>
          <p:cNvSpPr/>
          <p:nvPr/>
        </p:nvSpPr>
        <p:spPr>
          <a:xfrm>
            <a:off x="640080" y="3794760"/>
            <a:ext cx="201168" cy="201168"/>
          </a:xfrm>
          <a:prstGeom prst="ellipse">
            <a:avLst/>
          </a:prstGeom>
          <a:solidFill>
            <a:srgbClr val="94A3B8"/>
          </a:solidFill>
          <a:ln w="12700">
            <a:solidFill>
              <a:srgbClr val="94A3B8"/>
            </a:solidFill>
            <a:prstDash val="solid"/>
          </a:ln>
        </p:spPr>
      </p:sp>
      <p:sp>
        <p:nvSpPr>
          <p:cNvPr id="17" name="Text 15"/>
          <p:cNvSpPr/>
          <p:nvPr/>
        </p:nvSpPr>
        <p:spPr>
          <a:xfrm>
            <a:off x="914400" y="3749040"/>
            <a:ext cx="3474720" cy="292608"/>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Maybe it does what was needed</a:t>
            </a:r>
            <a:endParaRPr lang="en-US" sz="1100" dirty="0"/>
          </a:p>
        </p:txBody>
      </p:sp>
      <p:sp>
        <p:nvSpPr>
          <p:cNvPr id="18" name="Shape 16"/>
          <p:cNvSpPr/>
          <p:nvPr/>
        </p:nvSpPr>
        <p:spPr>
          <a:xfrm>
            <a:off x="4663440" y="1417320"/>
            <a:ext cx="4023360" cy="3063240"/>
          </a:xfrm>
          <a:prstGeom prst="rect">
            <a:avLst/>
          </a:prstGeom>
          <a:solidFill>
            <a:srgbClr val="CCFBF1"/>
          </a:solidFill>
          <a:ln w="25400">
            <a:solidFill>
              <a:srgbClr val="0D9488"/>
            </a:solidFill>
            <a:prstDash val="solid"/>
          </a:ln>
        </p:spPr>
      </p:sp>
      <p:sp>
        <p:nvSpPr>
          <p:cNvPr id="19" name="Text 17"/>
          <p:cNvSpPr/>
          <p:nvPr/>
        </p:nvSpPr>
        <p:spPr>
          <a:xfrm>
            <a:off x="4846320" y="1554480"/>
            <a:ext cx="3657600" cy="320040"/>
          </a:xfrm>
          <a:prstGeom prst="rect">
            <a:avLst/>
          </a:prstGeom>
          <a:noFill/>
          <a:ln/>
        </p:spPr>
        <p:txBody>
          <a:bodyPr wrap="square" lIns="0" tIns="0" rIns="0" bIns="0" rtlCol="0" anchor="ctr"/>
          <a:lstStyle/>
          <a:p>
            <a:pPr indent="0" marL="0">
              <a:buNone/>
            </a:pPr>
            <a:r>
              <a:rPr lang="en-US" sz="1400" b="1" spc="400" kern="0" dirty="0">
                <a:solidFill>
                  <a:srgbClr val="115E59"/>
                </a:solidFill>
                <a:latin typeface="Calibri" pitchFamily="34" charset="0"/>
                <a:ea typeface="Calibri" pitchFamily="34" charset="-122"/>
                <a:cs typeface="Calibri" pitchFamily="34" charset="-120"/>
              </a:rPr>
              <a:t>With AI</a:t>
            </a:r>
            <a:endParaRPr lang="en-US" sz="1400" dirty="0"/>
          </a:p>
        </p:txBody>
      </p:sp>
      <p:sp>
        <p:nvSpPr>
          <p:cNvPr id="20" name="Shape 18"/>
          <p:cNvSpPr/>
          <p:nvPr/>
        </p:nvSpPr>
        <p:spPr>
          <a:xfrm>
            <a:off x="4846320" y="1965960"/>
            <a:ext cx="201168" cy="201168"/>
          </a:xfrm>
          <a:prstGeom prst="ellipse">
            <a:avLst/>
          </a:prstGeom>
          <a:solidFill>
            <a:srgbClr val="0D9488"/>
          </a:solidFill>
          <a:ln w="12700">
            <a:solidFill>
              <a:srgbClr val="0D9488"/>
            </a:solidFill>
            <a:prstDash val="solid"/>
          </a:ln>
        </p:spPr>
      </p:sp>
      <p:sp>
        <p:nvSpPr>
          <p:cNvPr id="21" name="Text 19"/>
          <p:cNvSpPr/>
          <p:nvPr/>
        </p:nvSpPr>
        <p:spPr>
          <a:xfrm>
            <a:off x="5120640" y="1920240"/>
            <a:ext cx="3474720" cy="29260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Engineer notices a pain point</a:t>
            </a:r>
            <a:endParaRPr lang="en-US" sz="1100" dirty="0"/>
          </a:p>
        </p:txBody>
      </p:sp>
      <p:sp>
        <p:nvSpPr>
          <p:cNvPr id="22" name="Shape 20"/>
          <p:cNvSpPr/>
          <p:nvPr/>
        </p:nvSpPr>
        <p:spPr>
          <a:xfrm>
            <a:off x="4846320" y="2331720"/>
            <a:ext cx="201168" cy="201168"/>
          </a:xfrm>
          <a:prstGeom prst="ellipse">
            <a:avLst/>
          </a:prstGeom>
          <a:solidFill>
            <a:srgbClr val="0D9488"/>
          </a:solidFill>
          <a:ln w="12700">
            <a:solidFill>
              <a:srgbClr val="0D9488"/>
            </a:solidFill>
            <a:prstDash val="solid"/>
          </a:ln>
        </p:spPr>
      </p:sp>
      <p:sp>
        <p:nvSpPr>
          <p:cNvPr id="23" name="Text 21"/>
          <p:cNvSpPr/>
          <p:nvPr/>
        </p:nvSpPr>
        <p:spPr>
          <a:xfrm>
            <a:off x="5120640" y="2286000"/>
            <a:ext cx="3474720" cy="29260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Describes it to AI in plain English</a:t>
            </a:r>
            <a:endParaRPr lang="en-US" sz="1100" dirty="0"/>
          </a:p>
        </p:txBody>
      </p:sp>
      <p:sp>
        <p:nvSpPr>
          <p:cNvPr id="24" name="Shape 22"/>
          <p:cNvSpPr/>
          <p:nvPr/>
        </p:nvSpPr>
        <p:spPr>
          <a:xfrm>
            <a:off x="4846320" y="2697480"/>
            <a:ext cx="201168" cy="201168"/>
          </a:xfrm>
          <a:prstGeom prst="ellipse">
            <a:avLst/>
          </a:prstGeom>
          <a:solidFill>
            <a:srgbClr val="0D9488"/>
          </a:solidFill>
          <a:ln w="12700">
            <a:solidFill>
              <a:srgbClr val="0D9488"/>
            </a:solidFill>
            <a:prstDash val="solid"/>
          </a:ln>
        </p:spPr>
      </p:sp>
      <p:sp>
        <p:nvSpPr>
          <p:cNvPr id="25" name="Text 23"/>
          <p:cNvSpPr/>
          <p:nvPr/>
        </p:nvSpPr>
        <p:spPr>
          <a:xfrm>
            <a:off x="5120640" y="2651760"/>
            <a:ext cx="3474720" cy="29260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AI drafts a working tool</a:t>
            </a:r>
            <a:endParaRPr lang="en-US" sz="1100" dirty="0"/>
          </a:p>
        </p:txBody>
      </p:sp>
      <p:sp>
        <p:nvSpPr>
          <p:cNvPr id="26" name="Shape 24"/>
          <p:cNvSpPr/>
          <p:nvPr/>
        </p:nvSpPr>
        <p:spPr>
          <a:xfrm>
            <a:off x="4846320" y="3063240"/>
            <a:ext cx="201168" cy="201168"/>
          </a:xfrm>
          <a:prstGeom prst="ellipse">
            <a:avLst/>
          </a:prstGeom>
          <a:solidFill>
            <a:srgbClr val="0D9488"/>
          </a:solidFill>
          <a:ln w="12700">
            <a:solidFill>
              <a:srgbClr val="0D9488"/>
            </a:solidFill>
            <a:prstDash val="solid"/>
          </a:ln>
        </p:spPr>
      </p:sp>
      <p:sp>
        <p:nvSpPr>
          <p:cNvPr id="27" name="Text 25"/>
          <p:cNvSpPr/>
          <p:nvPr/>
        </p:nvSpPr>
        <p:spPr>
          <a:xfrm>
            <a:off x="5120640" y="3017520"/>
            <a:ext cx="3474720" cy="29260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Engineer tests in their own model</a:t>
            </a:r>
            <a:endParaRPr lang="en-US" sz="1100" dirty="0"/>
          </a:p>
        </p:txBody>
      </p:sp>
      <p:sp>
        <p:nvSpPr>
          <p:cNvPr id="28" name="Shape 26"/>
          <p:cNvSpPr/>
          <p:nvPr/>
        </p:nvSpPr>
        <p:spPr>
          <a:xfrm>
            <a:off x="4846320" y="3429000"/>
            <a:ext cx="201168" cy="201168"/>
          </a:xfrm>
          <a:prstGeom prst="ellipse">
            <a:avLst/>
          </a:prstGeom>
          <a:solidFill>
            <a:srgbClr val="0D9488"/>
          </a:solidFill>
          <a:ln w="12700">
            <a:solidFill>
              <a:srgbClr val="0D9488"/>
            </a:solidFill>
            <a:prstDash val="solid"/>
          </a:ln>
        </p:spPr>
      </p:sp>
      <p:sp>
        <p:nvSpPr>
          <p:cNvPr id="29" name="Text 27"/>
          <p:cNvSpPr/>
          <p:nvPr/>
        </p:nvSpPr>
        <p:spPr>
          <a:xfrm>
            <a:off x="5120640" y="3383280"/>
            <a:ext cx="3474720" cy="29260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Tool ships — same week</a:t>
            </a:r>
            <a:endParaRPr lang="en-US" sz="1100" dirty="0"/>
          </a:p>
        </p:txBody>
      </p:sp>
      <p:sp>
        <p:nvSpPr>
          <p:cNvPr id="30" name="Shape 28"/>
          <p:cNvSpPr/>
          <p:nvPr/>
        </p:nvSpPr>
        <p:spPr>
          <a:xfrm>
            <a:off x="4846320" y="3794760"/>
            <a:ext cx="201168" cy="201168"/>
          </a:xfrm>
          <a:prstGeom prst="ellipse">
            <a:avLst/>
          </a:prstGeom>
          <a:solidFill>
            <a:srgbClr val="0D9488"/>
          </a:solidFill>
          <a:ln w="12700">
            <a:solidFill>
              <a:srgbClr val="0D9488"/>
            </a:solidFill>
            <a:prstDash val="solid"/>
          </a:ln>
        </p:spPr>
      </p:sp>
      <p:sp>
        <p:nvSpPr>
          <p:cNvPr id="31" name="Text 29"/>
          <p:cNvSpPr/>
          <p:nvPr/>
        </p:nvSpPr>
        <p:spPr>
          <a:xfrm>
            <a:off x="5120640" y="3749040"/>
            <a:ext cx="3474720" cy="29260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It does exactly what was needed</a:t>
            </a:r>
            <a:endParaRPr lang="en-US" sz="1100" dirty="0"/>
          </a:p>
        </p:txBody>
      </p:sp>
      <p:sp>
        <p:nvSpPr>
          <p:cNvPr id="32" name="Text 30"/>
          <p:cNvSpPr/>
          <p:nvPr/>
        </p:nvSpPr>
        <p:spPr>
          <a:xfrm>
            <a:off x="365760" y="4846320"/>
            <a:ext cx="3657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Part 2 · AI generated</a:t>
            </a:r>
            <a:endParaRPr lang="en-US" sz="900" dirty="0"/>
          </a:p>
        </p:txBody>
      </p:sp>
      <p:sp>
        <p:nvSpPr>
          <p:cNvPr id="33" name="Text 31"/>
          <p:cNvSpPr/>
          <p:nvPr/>
        </p:nvSpPr>
        <p:spPr>
          <a:xfrm>
            <a:off x="5120640" y="4846320"/>
            <a:ext cx="3108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dbHMS  ·  Nathan Raab</a:t>
            </a:r>
            <a:endParaRPr lang="en-US" sz="900" dirty="0"/>
          </a:p>
        </p:txBody>
      </p:sp>
      <p:sp>
        <p:nvSpPr>
          <p:cNvPr id="34" name="Text 32"/>
          <p:cNvSpPr/>
          <p:nvPr/>
        </p:nvSpPr>
        <p:spPr>
          <a:xfrm>
            <a:off x="8412480" y="4846320"/>
            <a:ext cx="54864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13 / 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640080"/>
          </a:xfrm>
          <a:prstGeom prst="rect">
            <a:avLst/>
          </a:prstGeom>
          <a:noFill/>
          <a:ln/>
        </p:spPr>
        <p:txBody>
          <a:bodyPr wrap="square" lIns="0" tIns="0" rIns="0" bIns="0"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And it is fast</a:t>
            </a:r>
            <a:endParaRPr lang="en-US" sz="2800" dirty="0"/>
          </a:p>
        </p:txBody>
      </p:sp>
      <p:sp>
        <p:nvSpPr>
          <p:cNvPr id="3" name="Text 1"/>
          <p:cNvSpPr/>
          <p:nvPr/>
        </p:nvSpPr>
        <p:spPr>
          <a:xfrm>
            <a:off x="548640" y="960120"/>
            <a:ext cx="8229600" cy="3200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Six tools. Roughly two months of evenings.</a:t>
            </a:r>
            <a:endParaRPr lang="en-US" sz="1300" dirty="0"/>
          </a:p>
        </p:txBody>
      </p:sp>
      <p:sp>
        <p:nvSpPr>
          <p:cNvPr id="4" name="Shape 2"/>
          <p:cNvSpPr/>
          <p:nvPr/>
        </p:nvSpPr>
        <p:spPr>
          <a:xfrm>
            <a:off x="457200" y="1554480"/>
            <a:ext cx="2697480" cy="292608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5" name="Shape 3"/>
          <p:cNvSpPr/>
          <p:nvPr/>
        </p:nvSpPr>
        <p:spPr>
          <a:xfrm>
            <a:off x="457200" y="1554480"/>
            <a:ext cx="2697480" cy="64008"/>
          </a:xfrm>
          <a:prstGeom prst="rect">
            <a:avLst/>
          </a:prstGeom>
          <a:solidFill>
            <a:srgbClr val="0D9488"/>
          </a:solidFill>
          <a:ln w="12700">
            <a:solidFill>
              <a:srgbClr val="0D9488"/>
            </a:solidFill>
            <a:prstDash val="solid"/>
          </a:ln>
        </p:spPr>
      </p:sp>
      <p:sp>
        <p:nvSpPr>
          <p:cNvPr id="6" name="Shape 4"/>
          <p:cNvSpPr/>
          <p:nvPr/>
        </p:nvSpPr>
        <p:spPr>
          <a:xfrm>
            <a:off x="1577340" y="1783080"/>
            <a:ext cx="457200" cy="457200"/>
          </a:xfrm>
          <a:prstGeom prst="ellipse">
            <a:avLst/>
          </a:prstGeom>
          <a:solidFill>
            <a:srgbClr val="CCFBF1"/>
          </a:solidFill>
          <a:ln w="12700">
            <a:solidFill>
              <a:srgbClr val="CCFBF1"/>
            </a:solidFill>
            <a:prstDash val="solid"/>
          </a:ln>
        </p:spPr>
      </p:sp>
      <p:pic>
        <p:nvPicPr>
          <p:cNvPr id="7" name="Image 0" descr="preencoded.png">    </p:cNvPr>
          <p:cNvPicPr>
            <a:picLocks noChangeAspect="1"/>
          </p:cNvPicPr>
          <p:nvPr/>
        </p:nvPicPr>
        <p:blipFill>
          <a:blip r:embed="rId1"/>
          <a:stretch>
            <a:fillRect/>
          </a:stretch>
        </p:blipFill>
        <p:spPr>
          <a:xfrm>
            <a:off x="1655064" y="1865376"/>
            <a:ext cx="292608" cy="292608"/>
          </a:xfrm>
          <a:prstGeom prst="rect">
            <a:avLst/>
          </a:prstGeom>
        </p:spPr>
      </p:pic>
      <p:sp>
        <p:nvSpPr>
          <p:cNvPr id="8" name="Text 5"/>
          <p:cNvSpPr/>
          <p:nvPr/>
        </p:nvSpPr>
        <p:spPr>
          <a:xfrm>
            <a:off x="548640" y="2377440"/>
            <a:ext cx="2514600" cy="1005840"/>
          </a:xfrm>
          <a:prstGeom prst="rect">
            <a:avLst/>
          </a:prstGeom>
          <a:noFill/>
          <a:ln/>
        </p:spPr>
        <p:txBody>
          <a:bodyPr wrap="square" lIns="0" tIns="0" rIns="0" bIns="0" rtlCol="0" anchor="ctr"/>
          <a:lstStyle/>
          <a:p>
            <a:pPr algn="ctr" indent="0" marL="0">
              <a:buNone/>
            </a:pPr>
            <a:r>
              <a:rPr lang="en-US" sz="6400" b="1" dirty="0">
                <a:solidFill>
                  <a:srgbClr val="1E293B"/>
                </a:solidFill>
                <a:latin typeface="Georgia" pitchFamily="34" charset="0"/>
                <a:ea typeface="Georgia" pitchFamily="34" charset="-122"/>
                <a:cs typeface="Georgia" pitchFamily="34" charset="-120"/>
              </a:rPr>
              <a:t>6</a:t>
            </a:r>
            <a:endParaRPr lang="en-US" sz="6400" dirty="0"/>
          </a:p>
        </p:txBody>
      </p:sp>
      <p:sp>
        <p:nvSpPr>
          <p:cNvPr id="9" name="Text 6"/>
          <p:cNvSpPr/>
          <p:nvPr/>
        </p:nvSpPr>
        <p:spPr>
          <a:xfrm>
            <a:off x="548640" y="3383280"/>
            <a:ext cx="2514600" cy="320040"/>
          </a:xfrm>
          <a:prstGeom prst="rect">
            <a:avLst/>
          </a:prstGeom>
          <a:noFill/>
          <a:ln/>
        </p:spPr>
        <p:txBody>
          <a:bodyPr wrap="square" lIns="0" tIns="0" rIns="0" bIns="0" rtlCol="0" anchor="ctr"/>
          <a:lstStyle/>
          <a:p>
            <a:pPr algn="ctr" indent="0" marL="0">
              <a:buNone/>
            </a:pPr>
            <a:r>
              <a:rPr lang="en-US" sz="1300" b="1" dirty="0">
                <a:solidFill>
                  <a:srgbClr val="0D9488"/>
                </a:solidFill>
                <a:latin typeface="Calibri" pitchFamily="34" charset="0"/>
                <a:ea typeface="Calibri" pitchFamily="34" charset="-122"/>
                <a:cs typeface="Calibri" pitchFamily="34" charset="-120"/>
              </a:rPr>
              <a:t>shipped tools</a:t>
            </a:r>
            <a:endParaRPr lang="en-US" sz="1300" dirty="0"/>
          </a:p>
        </p:txBody>
      </p:sp>
      <p:sp>
        <p:nvSpPr>
          <p:cNvPr id="10" name="Text 7"/>
          <p:cNvSpPr/>
          <p:nvPr/>
        </p:nvSpPr>
        <p:spPr>
          <a:xfrm>
            <a:off x="640080" y="3703320"/>
            <a:ext cx="2331720" cy="64008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All of them in this deck.</a:t>
            </a:r>
            <a:endParaRPr lang="en-US" sz="1000" dirty="0"/>
          </a:p>
        </p:txBody>
      </p:sp>
      <p:sp>
        <p:nvSpPr>
          <p:cNvPr id="11" name="Shape 8"/>
          <p:cNvSpPr/>
          <p:nvPr/>
        </p:nvSpPr>
        <p:spPr>
          <a:xfrm>
            <a:off x="3246120" y="1554480"/>
            <a:ext cx="2697480" cy="292608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12" name="Shape 9"/>
          <p:cNvSpPr/>
          <p:nvPr/>
        </p:nvSpPr>
        <p:spPr>
          <a:xfrm>
            <a:off x="3246120" y="1554480"/>
            <a:ext cx="2697480" cy="64008"/>
          </a:xfrm>
          <a:prstGeom prst="rect">
            <a:avLst/>
          </a:prstGeom>
          <a:solidFill>
            <a:srgbClr val="0D9488"/>
          </a:solidFill>
          <a:ln w="12700">
            <a:solidFill>
              <a:srgbClr val="0D9488"/>
            </a:solidFill>
            <a:prstDash val="solid"/>
          </a:ln>
        </p:spPr>
      </p:sp>
      <p:sp>
        <p:nvSpPr>
          <p:cNvPr id="13" name="Shape 10"/>
          <p:cNvSpPr/>
          <p:nvPr/>
        </p:nvSpPr>
        <p:spPr>
          <a:xfrm>
            <a:off x="4366260" y="1783080"/>
            <a:ext cx="457200" cy="457200"/>
          </a:xfrm>
          <a:prstGeom prst="ellipse">
            <a:avLst/>
          </a:prstGeom>
          <a:solidFill>
            <a:srgbClr val="CCFBF1"/>
          </a:solidFill>
          <a:ln w="12700">
            <a:solidFill>
              <a:srgbClr val="CCFBF1"/>
            </a:solidFill>
            <a:prstDash val="solid"/>
          </a:ln>
        </p:spPr>
      </p:sp>
      <p:pic>
        <p:nvPicPr>
          <p:cNvPr id="14" name="Image 1" descr="preencoded.png">    </p:cNvPr>
          <p:cNvPicPr>
            <a:picLocks noChangeAspect="1"/>
          </p:cNvPicPr>
          <p:nvPr/>
        </p:nvPicPr>
        <p:blipFill>
          <a:blip r:embed="rId2"/>
          <a:stretch>
            <a:fillRect/>
          </a:stretch>
        </p:blipFill>
        <p:spPr>
          <a:xfrm>
            <a:off x="4443984" y="1865376"/>
            <a:ext cx="292608" cy="292608"/>
          </a:xfrm>
          <a:prstGeom prst="rect">
            <a:avLst/>
          </a:prstGeom>
        </p:spPr>
      </p:pic>
      <p:sp>
        <p:nvSpPr>
          <p:cNvPr id="15" name="Text 11"/>
          <p:cNvSpPr/>
          <p:nvPr/>
        </p:nvSpPr>
        <p:spPr>
          <a:xfrm>
            <a:off x="3337560" y="2377440"/>
            <a:ext cx="2514600" cy="1005840"/>
          </a:xfrm>
          <a:prstGeom prst="rect">
            <a:avLst/>
          </a:prstGeom>
          <a:noFill/>
          <a:ln/>
        </p:spPr>
        <p:txBody>
          <a:bodyPr wrap="square" lIns="0" tIns="0" rIns="0" bIns="0" rtlCol="0" anchor="ctr"/>
          <a:lstStyle/>
          <a:p>
            <a:pPr algn="ctr" indent="0" marL="0">
              <a:buNone/>
            </a:pPr>
            <a:r>
              <a:rPr lang="en-US" sz="6400" b="1" dirty="0">
                <a:solidFill>
                  <a:srgbClr val="1E293B"/>
                </a:solidFill>
                <a:latin typeface="Georgia" pitchFamily="34" charset="0"/>
                <a:ea typeface="Georgia" pitchFamily="34" charset="-122"/>
                <a:cs typeface="Georgia" pitchFamily="34" charset="-120"/>
              </a:rPr>
              <a:t>~12h</a:t>
            </a:r>
            <a:endParaRPr lang="en-US" sz="6400" dirty="0"/>
          </a:p>
        </p:txBody>
      </p:sp>
      <p:sp>
        <p:nvSpPr>
          <p:cNvPr id="16" name="Text 12"/>
          <p:cNvSpPr/>
          <p:nvPr/>
        </p:nvSpPr>
        <p:spPr>
          <a:xfrm>
            <a:off x="3337560" y="3383280"/>
            <a:ext cx="2514600" cy="320040"/>
          </a:xfrm>
          <a:prstGeom prst="rect">
            <a:avLst/>
          </a:prstGeom>
          <a:noFill/>
          <a:ln/>
        </p:spPr>
        <p:txBody>
          <a:bodyPr wrap="square" lIns="0" tIns="0" rIns="0" bIns="0" rtlCol="0" anchor="ctr"/>
          <a:lstStyle/>
          <a:p>
            <a:pPr algn="ctr" indent="0" marL="0">
              <a:buNone/>
            </a:pPr>
            <a:r>
              <a:rPr lang="en-US" sz="1300" b="1" dirty="0">
                <a:solidFill>
                  <a:srgbClr val="0D9488"/>
                </a:solidFill>
                <a:latin typeface="Calibri" pitchFamily="34" charset="0"/>
                <a:ea typeface="Calibri" pitchFamily="34" charset="-122"/>
                <a:cs typeface="Calibri" pitchFamily="34" charset="-120"/>
              </a:rPr>
              <a:t>saved per project</a:t>
            </a:r>
            <a:endParaRPr lang="en-US" sz="1300" dirty="0"/>
          </a:p>
        </p:txBody>
      </p:sp>
      <p:sp>
        <p:nvSpPr>
          <p:cNvPr id="17" name="Text 13"/>
          <p:cNvSpPr/>
          <p:nvPr/>
        </p:nvSpPr>
        <p:spPr>
          <a:xfrm>
            <a:off x="3429000" y="3703320"/>
            <a:ext cx="2331720" cy="64008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Today. Real numbers, not projections.</a:t>
            </a:r>
            <a:endParaRPr lang="en-US" sz="1000" dirty="0"/>
          </a:p>
        </p:txBody>
      </p:sp>
      <p:sp>
        <p:nvSpPr>
          <p:cNvPr id="18" name="Shape 14"/>
          <p:cNvSpPr/>
          <p:nvPr/>
        </p:nvSpPr>
        <p:spPr>
          <a:xfrm>
            <a:off x="6035040" y="1554480"/>
            <a:ext cx="2697480" cy="292608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8000"/>
              </a:srgbClr>
            </a:outerShdw>
          </a:effectLst>
        </p:spPr>
      </p:sp>
      <p:sp>
        <p:nvSpPr>
          <p:cNvPr id="19" name="Shape 15"/>
          <p:cNvSpPr/>
          <p:nvPr/>
        </p:nvSpPr>
        <p:spPr>
          <a:xfrm>
            <a:off x="6035040" y="1554480"/>
            <a:ext cx="2697480" cy="64008"/>
          </a:xfrm>
          <a:prstGeom prst="rect">
            <a:avLst/>
          </a:prstGeom>
          <a:solidFill>
            <a:srgbClr val="0D9488"/>
          </a:solidFill>
          <a:ln w="12700">
            <a:solidFill>
              <a:srgbClr val="0D9488"/>
            </a:solidFill>
            <a:prstDash val="solid"/>
          </a:ln>
        </p:spPr>
      </p:sp>
      <p:sp>
        <p:nvSpPr>
          <p:cNvPr id="20" name="Shape 16"/>
          <p:cNvSpPr/>
          <p:nvPr/>
        </p:nvSpPr>
        <p:spPr>
          <a:xfrm>
            <a:off x="7155180" y="1783080"/>
            <a:ext cx="457200" cy="457200"/>
          </a:xfrm>
          <a:prstGeom prst="ellipse">
            <a:avLst/>
          </a:prstGeom>
          <a:solidFill>
            <a:srgbClr val="CCFBF1"/>
          </a:solidFill>
          <a:ln w="12700">
            <a:solidFill>
              <a:srgbClr val="CCFBF1"/>
            </a:solidFill>
            <a:prstDash val="solid"/>
          </a:ln>
        </p:spPr>
      </p:sp>
      <p:pic>
        <p:nvPicPr>
          <p:cNvPr id="21" name="Image 2" descr="preencoded.png">    </p:cNvPr>
          <p:cNvPicPr>
            <a:picLocks noChangeAspect="1"/>
          </p:cNvPicPr>
          <p:nvPr/>
        </p:nvPicPr>
        <p:blipFill>
          <a:blip r:embed="rId3"/>
          <a:stretch>
            <a:fillRect/>
          </a:stretch>
        </p:blipFill>
        <p:spPr>
          <a:xfrm>
            <a:off x="7232904" y="1865376"/>
            <a:ext cx="292608" cy="292608"/>
          </a:xfrm>
          <a:prstGeom prst="rect">
            <a:avLst/>
          </a:prstGeom>
        </p:spPr>
      </p:pic>
      <p:sp>
        <p:nvSpPr>
          <p:cNvPr id="22" name="Text 17"/>
          <p:cNvSpPr/>
          <p:nvPr/>
        </p:nvSpPr>
        <p:spPr>
          <a:xfrm>
            <a:off x="6126480" y="2377440"/>
            <a:ext cx="2514600" cy="1005840"/>
          </a:xfrm>
          <a:prstGeom prst="rect">
            <a:avLst/>
          </a:prstGeom>
          <a:noFill/>
          <a:ln/>
        </p:spPr>
        <p:txBody>
          <a:bodyPr wrap="square" lIns="0" tIns="0" rIns="0" bIns="0" rtlCol="0" anchor="ctr"/>
          <a:lstStyle/>
          <a:p>
            <a:pPr algn="ctr" indent="0" marL="0">
              <a:buNone/>
            </a:pPr>
            <a:r>
              <a:rPr lang="en-US" sz="6400" b="1" dirty="0">
                <a:solidFill>
                  <a:srgbClr val="1E293B"/>
                </a:solidFill>
                <a:latin typeface="Georgia" pitchFamily="34" charset="0"/>
                <a:ea typeface="Georgia" pitchFamily="34" charset="-122"/>
                <a:cs typeface="Georgia" pitchFamily="34" charset="-120"/>
              </a:rPr>
              <a:t>0</a:t>
            </a:r>
            <a:endParaRPr lang="en-US" sz="6400" dirty="0"/>
          </a:p>
        </p:txBody>
      </p:sp>
      <p:sp>
        <p:nvSpPr>
          <p:cNvPr id="23" name="Text 18"/>
          <p:cNvSpPr/>
          <p:nvPr/>
        </p:nvSpPr>
        <p:spPr>
          <a:xfrm>
            <a:off x="6126480" y="3383280"/>
            <a:ext cx="2514600" cy="320040"/>
          </a:xfrm>
          <a:prstGeom prst="rect">
            <a:avLst/>
          </a:prstGeom>
          <a:noFill/>
          <a:ln/>
        </p:spPr>
        <p:txBody>
          <a:bodyPr wrap="square" lIns="0" tIns="0" rIns="0" bIns="0" rtlCol="0" anchor="ctr"/>
          <a:lstStyle/>
          <a:p>
            <a:pPr algn="ctr" indent="0" marL="0">
              <a:buNone/>
            </a:pPr>
            <a:r>
              <a:rPr lang="en-US" sz="1300" b="1" dirty="0">
                <a:solidFill>
                  <a:srgbClr val="0D9488"/>
                </a:solidFill>
                <a:latin typeface="Calibri" pitchFamily="34" charset="0"/>
                <a:ea typeface="Calibri" pitchFamily="34" charset="-122"/>
                <a:cs typeface="Calibri" pitchFamily="34" charset="-120"/>
              </a:rPr>
              <a:t>developers hired</a:t>
            </a:r>
            <a:endParaRPr lang="en-US" sz="1300" dirty="0"/>
          </a:p>
        </p:txBody>
      </p:sp>
      <p:sp>
        <p:nvSpPr>
          <p:cNvPr id="24" name="Text 19"/>
          <p:cNvSpPr/>
          <p:nvPr/>
        </p:nvSpPr>
        <p:spPr>
          <a:xfrm>
            <a:off x="6217920" y="3703320"/>
            <a:ext cx="2331720" cy="64008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Built by a BIM technician with an AI assistant.</a:t>
            </a:r>
            <a:endParaRPr lang="en-US" sz="1000" dirty="0"/>
          </a:p>
        </p:txBody>
      </p:sp>
      <p:sp>
        <p:nvSpPr>
          <p:cNvPr id="25" name="Text 20"/>
          <p:cNvSpPr/>
          <p:nvPr/>
        </p:nvSpPr>
        <p:spPr>
          <a:xfrm>
            <a:off x="365760" y="4846320"/>
            <a:ext cx="3657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Part 2 · AI generated</a:t>
            </a:r>
            <a:endParaRPr lang="en-US" sz="900" dirty="0"/>
          </a:p>
        </p:txBody>
      </p:sp>
      <p:sp>
        <p:nvSpPr>
          <p:cNvPr id="26" name="Text 21"/>
          <p:cNvSpPr/>
          <p:nvPr/>
        </p:nvSpPr>
        <p:spPr>
          <a:xfrm>
            <a:off x="5120640" y="4846320"/>
            <a:ext cx="3108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dbHMS  ·  Nathan Raab</a:t>
            </a:r>
            <a:endParaRPr lang="en-US" sz="900" dirty="0"/>
          </a:p>
        </p:txBody>
      </p:sp>
      <p:sp>
        <p:nvSpPr>
          <p:cNvPr id="27" name="Text 22"/>
          <p:cNvSpPr/>
          <p:nvPr/>
        </p:nvSpPr>
        <p:spPr>
          <a:xfrm>
            <a:off x="8412480" y="4846320"/>
            <a:ext cx="54864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14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93B"/>
        </a:solidFill>
      </p:bgPr>
    </p:bg>
    <p:spTree>
      <p:nvGrpSpPr>
        <p:cNvPr id="1" name=""/>
        <p:cNvGrpSpPr/>
        <p:nvPr/>
      </p:nvGrpSpPr>
      <p:grpSpPr>
        <a:xfrm>
          <a:off x="0" y="0"/>
          <a:ext cx="0" cy="0"/>
          <a:chOff x="0" y="0"/>
          <a:chExt cx="0" cy="0"/>
        </a:xfrm>
      </p:grpSpPr>
      <p:sp>
        <p:nvSpPr>
          <p:cNvPr id="2" name="Text 0"/>
          <p:cNvSpPr/>
          <p:nvPr/>
        </p:nvSpPr>
        <p:spPr>
          <a:xfrm>
            <a:off x="548640" y="1371600"/>
            <a:ext cx="8229600" cy="365760"/>
          </a:xfrm>
          <a:prstGeom prst="rect">
            <a:avLst/>
          </a:prstGeom>
          <a:noFill/>
          <a:ln/>
        </p:spPr>
        <p:txBody>
          <a:bodyPr wrap="square" lIns="0" tIns="0" rIns="0" bIns="0" rtlCol="0" anchor="ctr"/>
          <a:lstStyle/>
          <a:p>
            <a:pPr indent="0" marL="0">
              <a:buNone/>
            </a:pPr>
            <a:r>
              <a:rPr lang="en-US" sz="1400" b="1" spc="1000" kern="0" dirty="0">
                <a:solidFill>
                  <a:srgbClr val="0D9488"/>
                </a:solidFill>
                <a:latin typeface="Calibri" pitchFamily="34" charset="0"/>
                <a:ea typeface="Calibri" pitchFamily="34" charset="-122"/>
                <a:cs typeface="Calibri" pitchFamily="34" charset="-120"/>
              </a:rPr>
              <a:t>PART 3</a:t>
            </a:r>
            <a:endParaRPr lang="en-US" sz="1400" dirty="0"/>
          </a:p>
        </p:txBody>
      </p:sp>
      <p:sp>
        <p:nvSpPr>
          <p:cNvPr id="3" name="Text 1"/>
          <p:cNvSpPr/>
          <p:nvPr/>
        </p:nvSpPr>
        <p:spPr>
          <a:xfrm>
            <a:off x="548640" y="1828800"/>
            <a:ext cx="8229600" cy="1645920"/>
          </a:xfrm>
          <a:prstGeom prst="rect">
            <a:avLst/>
          </a:prstGeom>
          <a:noFill/>
          <a:ln/>
        </p:spPr>
        <p:txBody>
          <a:bodyPr wrap="square" lIns="0" tIns="0" rIns="0" bIns="0" rtlCol="0" anchor="ctr"/>
          <a:lstStyle/>
          <a:p>
            <a:pPr indent="0" marL="0">
              <a:lnSpc>
                <a:spcPct val="100000"/>
              </a:lnSpc>
              <a:buNone/>
            </a:pPr>
            <a:r>
              <a:rPr lang="en-US" sz="4800" b="1" dirty="0">
                <a:solidFill>
                  <a:srgbClr val="FFFFFF"/>
                </a:solidFill>
                <a:latin typeface="Georgia" pitchFamily="34" charset="0"/>
                <a:ea typeface="Georgia" pitchFamily="34" charset="-122"/>
                <a:cs typeface="Georgia" pitchFamily="34" charset="-120"/>
              </a:rPr>
              <a:t>What this means</a:t>
            </a:r>
            <a:endParaRPr lang="en-US" sz="4800" dirty="0"/>
          </a:p>
          <a:p>
            <a:pPr indent="0" marL="0">
              <a:lnSpc>
                <a:spcPct val="100000"/>
              </a:lnSpc>
              <a:buNone/>
            </a:pPr>
            <a:r>
              <a:rPr lang="en-US" sz="4800" b="1" dirty="0">
                <a:solidFill>
                  <a:srgbClr val="FFFFFF"/>
                </a:solidFill>
                <a:latin typeface="Georgia" pitchFamily="34" charset="0"/>
                <a:ea typeface="Georgia" pitchFamily="34" charset="-122"/>
                <a:cs typeface="Georgia" pitchFamily="34" charset="-120"/>
              </a:rPr>
              <a:t>for the firm</a:t>
            </a:r>
            <a:endParaRPr lang="en-US" sz="4800" dirty="0"/>
          </a:p>
        </p:txBody>
      </p:sp>
      <p:sp>
        <p:nvSpPr>
          <p:cNvPr id="4" name="Text 2"/>
          <p:cNvSpPr/>
          <p:nvPr/>
        </p:nvSpPr>
        <p:spPr>
          <a:xfrm>
            <a:off x="548640" y="3566160"/>
            <a:ext cx="8229600" cy="45720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Opportunity, real risks, and three things to do next.</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640080"/>
          </a:xfrm>
          <a:prstGeom prst="rect">
            <a:avLst/>
          </a:prstGeom>
          <a:noFill/>
          <a:ln/>
        </p:spPr>
        <p:txBody>
          <a:bodyPr wrap="square" lIns="0" tIns="0" rIns="0" bIns="0" rtlCol="0" anchor="ctr"/>
          <a:lstStyle/>
          <a:p>
            <a:pPr indent="0" marL="0">
              <a:buNone/>
            </a:pPr>
            <a:r>
              <a:rPr lang="en-US" sz="3000" b="1" dirty="0">
                <a:solidFill>
                  <a:srgbClr val="1E293B"/>
                </a:solidFill>
                <a:latin typeface="Georgia" pitchFamily="34" charset="0"/>
                <a:ea typeface="Georgia" pitchFamily="34" charset="-122"/>
                <a:cs typeface="Georgia" pitchFamily="34" charset="-120"/>
              </a:rPr>
              <a:t>The opportunity</a:t>
            </a:r>
            <a:endParaRPr lang="en-US" sz="3000" dirty="0"/>
          </a:p>
        </p:txBody>
      </p:sp>
      <p:sp>
        <p:nvSpPr>
          <p:cNvPr id="3" name="Text 1"/>
          <p:cNvSpPr/>
          <p:nvPr/>
        </p:nvSpPr>
        <p:spPr>
          <a:xfrm>
            <a:off x="548640" y="960120"/>
            <a:ext cx="8229600" cy="3200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Three compounding gains, in order from operational to strategic.</a:t>
            </a:r>
            <a:endParaRPr lang="en-US" sz="1200" dirty="0"/>
          </a:p>
        </p:txBody>
      </p:sp>
      <p:sp>
        <p:nvSpPr>
          <p:cNvPr id="4" name="Shape 2"/>
          <p:cNvSpPr/>
          <p:nvPr/>
        </p:nvSpPr>
        <p:spPr>
          <a:xfrm>
            <a:off x="457200" y="1463040"/>
            <a:ext cx="8229600" cy="914400"/>
          </a:xfrm>
          <a:prstGeom prst="rect">
            <a:avLst/>
          </a:prstGeom>
          <a:solidFill>
            <a:srgbClr val="F8FAFC"/>
          </a:solidFill>
          <a:ln w="12700">
            <a:solidFill>
              <a:srgbClr val="E2E8F0"/>
            </a:solidFill>
            <a:prstDash val="solid"/>
          </a:ln>
        </p:spPr>
      </p:sp>
      <p:sp>
        <p:nvSpPr>
          <p:cNvPr id="5" name="Shape 3"/>
          <p:cNvSpPr/>
          <p:nvPr/>
        </p:nvSpPr>
        <p:spPr>
          <a:xfrm>
            <a:off x="457200" y="1463040"/>
            <a:ext cx="91440" cy="914400"/>
          </a:xfrm>
          <a:prstGeom prst="rect">
            <a:avLst/>
          </a:prstGeom>
          <a:solidFill>
            <a:srgbClr val="EA580C"/>
          </a:solidFill>
          <a:ln w="12700">
            <a:solidFill>
              <a:srgbClr val="EA580C"/>
            </a:solidFill>
            <a:prstDash val="solid"/>
          </a:ln>
        </p:spPr>
      </p:sp>
      <p:sp>
        <p:nvSpPr>
          <p:cNvPr id="6" name="Shape 4"/>
          <p:cNvSpPr/>
          <p:nvPr/>
        </p:nvSpPr>
        <p:spPr>
          <a:xfrm>
            <a:off x="777240" y="1664208"/>
            <a:ext cx="502920" cy="502920"/>
          </a:xfrm>
          <a:prstGeom prst="ellipse">
            <a:avLst/>
          </a:prstGeom>
          <a:solidFill>
            <a:srgbClr val="FFFFFF"/>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868680" y="1755648"/>
            <a:ext cx="320040" cy="320040"/>
          </a:xfrm>
          <a:prstGeom prst="rect">
            <a:avLst/>
          </a:prstGeom>
        </p:spPr>
      </p:pic>
      <p:sp>
        <p:nvSpPr>
          <p:cNvPr id="8" name="Text 5"/>
          <p:cNvSpPr/>
          <p:nvPr/>
        </p:nvSpPr>
        <p:spPr>
          <a:xfrm>
            <a:off x="1463040" y="1581912"/>
            <a:ext cx="7040880" cy="365760"/>
          </a:xfrm>
          <a:prstGeom prst="rect">
            <a:avLst/>
          </a:prstGeom>
          <a:noFill/>
          <a:ln/>
        </p:spPr>
        <p:txBody>
          <a:bodyPr wrap="square" lIns="0" tIns="0" rIns="0" bIns="0" rtlCol="0" anchor="ctr"/>
          <a:lstStyle/>
          <a:p>
            <a:pPr indent="0" marL="0">
              <a:buNone/>
            </a:pPr>
            <a:r>
              <a:rPr lang="en-US" sz="1600" b="1" dirty="0">
                <a:solidFill>
                  <a:srgbClr val="1E293B"/>
                </a:solidFill>
                <a:latin typeface="Georgia" pitchFamily="34" charset="0"/>
                <a:ea typeface="Georgia" pitchFamily="34" charset="-122"/>
                <a:cs typeface="Georgia" pitchFamily="34" charset="-120"/>
              </a:rPr>
              <a:t>Reduce time on repetitive tasks</a:t>
            </a:r>
            <a:endParaRPr lang="en-US" sz="1600" dirty="0"/>
          </a:p>
        </p:txBody>
      </p:sp>
      <p:sp>
        <p:nvSpPr>
          <p:cNvPr id="9" name="Text 6"/>
          <p:cNvSpPr/>
          <p:nvPr/>
        </p:nvSpPr>
        <p:spPr>
          <a:xfrm>
            <a:off x="1463040" y="1920240"/>
            <a:ext cx="7040880" cy="4114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Six tools, twelve engineer-hours per project. Multiply across every project we run.</a:t>
            </a:r>
            <a:endParaRPr lang="en-US" sz="1100" dirty="0"/>
          </a:p>
        </p:txBody>
      </p:sp>
      <p:sp>
        <p:nvSpPr>
          <p:cNvPr id="10" name="Shape 7"/>
          <p:cNvSpPr/>
          <p:nvPr/>
        </p:nvSpPr>
        <p:spPr>
          <a:xfrm>
            <a:off x="457200" y="2468880"/>
            <a:ext cx="8229600" cy="914400"/>
          </a:xfrm>
          <a:prstGeom prst="rect">
            <a:avLst/>
          </a:prstGeom>
          <a:solidFill>
            <a:srgbClr val="F8FAFC"/>
          </a:solidFill>
          <a:ln w="12700">
            <a:solidFill>
              <a:srgbClr val="E2E8F0"/>
            </a:solidFill>
            <a:prstDash val="solid"/>
          </a:ln>
        </p:spPr>
      </p:sp>
      <p:sp>
        <p:nvSpPr>
          <p:cNvPr id="11" name="Shape 8"/>
          <p:cNvSpPr/>
          <p:nvPr/>
        </p:nvSpPr>
        <p:spPr>
          <a:xfrm>
            <a:off x="457200" y="2468880"/>
            <a:ext cx="91440" cy="914400"/>
          </a:xfrm>
          <a:prstGeom prst="rect">
            <a:avLst/>
          </a:prstGeom>
          <a:solidFill>
            <a:srgbClr val="0D9488"/>
          </a:solidFill>
          <a:ln w="12700">
            <a:solidFill>
              <a:srgbClr val="0D9488"/>
            </a:solidFill>
            <a:prstDash val="solid"/>
          </a:ln>
        </p:spPr>
      </p:sp>
      <p:sp>
        <p:nvSpPr>
          <p:cNvPr id="12" name="Shape 9"/>
          <p:cNvSpPr/>
          <p:nvPr/>
        </p:nvSpPr>
        <p:spPr>
          <a:xfrm>
            <a:off x="777240" y="2670048"/>
            <a:ext cx="502920" cy="502920"/>
          </a:xfrm>
          <a:prstGeom prst="ellipse">
            <a:avLst/>
          </a:prstGeom>
          <a:solidFill>
            <a:srgbClr val="FFFFFF"/>
          </a:solidFill>
          <a:ln w="12700">
            <a:solidFill>
              <a:srgbClr val="0D9488"/>
            </a:solidFill>
            <a:prstDash val="solid"/>
          </a:ln>
        </p:spPr>
      </p:sp>
      <p:pic>
        <p:nvPicPr>
          <p:cNvPr id="13" name="Image 1" descr="preencoded.png">    </p:cNvPr>
          <p:cNvPicPr>
            <a:picLocks noChangeAspect="1"/>
          </p:cNvPicPr>
          <p:nvPr/>
        </p:nvPicPr>
        <p:blipFill>
          <a:blip r:embed="rId2"/>
          <a:stretch>
            <a:fillRect/>
          </a:stretch>
        </p:blipFill>
        <p:spPr>
          <a:xfrm>
            <a:off x="868680" y="2761488"/>
            <a:ext cx="320040" cy="320040"/>
          </a:xfrm>
          <a:prstGeom prst="rect">
            <a:avLst/>
          </a:prstGeom>
        </p:spPr>
      </p:pic>
      <p:sp>
        <p:nvSpPr>
          <p:cNvPr id="14" name="Text 10"/>
          <p:cNvSpPr/>
          <p:nvPr/>
        </p:nvSpPr>
        <p:spPr>
          <a:xfrm>
            <a:off x="1463040" y="2587752"/>
            <a:ext cx="7040880" cy="365760"/>
          </a:xfrm>
          <a:prstGeom prst="rect">
            <a:avLst/>
          </a:prstGeom>
          <a:noFill/>
          <a:ln/>
        </p:spPr>
        <p:txBody>
          <a:bodyPr wrap="square" lIns="0" tIns="0" rIns="0" bIns="0" rtlCol="0" anchor="ctr"/>
          <a:lstStyle/>
          <a:p>
            <a:pPr indent="0" marL="0">
              <a:buNone/>
            </a:pPr>
            <a:r>
              <a:rPr lang="en-US" sz="1600" b="1" dirty="0">
                <a:solidFill>
                  <a:srgbClr val="1E293B"/>
                </a:solidFill>
                <a:latin typeface="Georgia" pitchFamily="34" charset="0"/>
                <a:ea typeface="Georgia" pitchFamily="34" charset="-122"/>
                <a:cs typeface="Georgia" pitchFamily="34" charset="-120"/>
              </a:rPr>
              <a:t>Democratize automation — and, eventually, engineering</a:t>
            </a:r>
            <a:endParaRPr lang="en-US" sz="1600" dirty="0"/>
          </a:p>
        </p:txBody>
      </p:sp>
      <p:sp>
        <p:nvSpPr>
          <p:cNvPr id="15" name="Text 11"/>
          <p:cNvSpPr/>
          <p:nvPr/>
        </p:nvSpPr>
        <p:spPr>
          <a:xfrm>
            <a:off x="1463040" y="2926080"/>
            <a:ext cx="7040880" cy="4114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The people closest to the work can now build the tools. The bottleneck moves from IT to imagination.</a:t>
            </a:r>
            <a:endParaRPr lang="en-US" sz="1100" dirty="0"/>
          </a:p>
        </p:txBody>
      </p:sp>
      <p:sp>
        <p:nvSpPr>
          <p:cNvPr id="16" name="Shape 12"/>
          <p:cNvSpPr/>
          <p:nvPr/>
        </p:nvSpPr>
        <p:spPr>
          <a:xfrm>
            <a:off x="457200" y="3474720"/>
            <a:ext cx="8229600" cy="914400"/>
          </a:xfrm>
          <a:prstGeom prst="rect">
            <a:avLst/>
          </a:prstGeom>
          <a:solidFill>
            <a:srgbClr val="F8FAFC"/>
          </a:solidFill>
          <a:ln w="12700">
            <a:solidFill>
              <a:srgbClr val="E2E8F0"/>
            </a:solidFill>
            <a:prstDash val="solid"/>
          </a:ln>
        </p:spPr>
      </p:sp>
      <p:sp>
        <p:nvSpPr>
          <p:cNvPr id="17" name="Shape 13"/>
          <p:cNvSpPr/>
          <p:nvPr/>
        </p:nvSpPr>
        <p:spPr>
          <a:xfrm>
            <a:off x="457200" y="3474720"/>
            <a:ext cx="91440" cy="914400"/>
          </a:xfrm>
          <a:prstGeom prst="rect">
            <a:avLst/>
          </a:prstGeom>
          <a:solidFill>
            <a:srgbClr val="D97706"/>
          </a:solidFill>
          <a:ln w="12700">
            <a:solidFill>
              <a:srgbClr val="D97706"/>
            </a:solidFill>
            <a:prstDash val="solid"/>
          </a:ln>
        </p:spPr>
      </p:sp>
      <p:sp>
        <p:nvSpPr>
          <p:cNvPr id="18" name="Shape 14"/>
          <p:cNvSpPr/>
          <p:nvPr/>
        </p:nvSpPr>
        <p:spPr>
          <a:xfrm>
            <a:off x="777240" y="3675888"/>
            <a:ext cx="502920" cy="502920"/>
          </a:xfrm>
          <a:prstGeom prst="ellipse">
            <a:avLst/>
          </a:prstGeom>
          <a:solidFill>
            <a:srgbClr val="FFFFFF"/>
          </a:solidFill>
          <a:ln w="12700">
            <a:solidFill>
              <a:srgbClr val="D97706"/>
            </a:solidFill>
            <a:prstDash val="solid"/>
          </a:ln>
        </p:spPr>
      </p:sp>
      <p:pic>
        <p:nvPicPr>
          <p:cNvPr id="19" name="Image 2" descr="preencoded.png">    </p:cNvPr>
          <p:cNvPicPr>
            <a:picLocks noChangeAspect="1"/>
          </p:cNvPicPr>
          <p:nvPr/>
        </p:nvPicPr>
        <p:blipFill>
          <a:blip r:embed="rId3"/>
          <a:stretch>
            <a:fillRect/>
          </a:stretch>
        </p:blipFill>
        <p:spPr>
          <a:xfrm>
            <a:off x="868680" y="3767328"/>
            <a:ext cx="320040" cy="320040"/>
          </a:xfrm>
          <a:prstGeom prst="rect">
            <a:avLst/>
          </a:prstGeom>
        </p:spPr>
      </p:pic>
      <p:sp>
        <p:nvSpPr>
          <p:cNvPr id="20" name="Text 15"/>
          <p:cNvSpPr/>
          <p:nvPr/>
        </p:nvSpPr>
        <p:spPr>
          <a:xfrm>
            <a:off x="1463040" y="3593592"/>
            <a:ext cx="7040880" cy="365760"/>
          </a:xfrm>
          <a:prstGeom prst="rect">
            <a:avLst/>
          </a:prstGeom>
          <a:noFill/>
          <a:ln/>
        </p:spPr>
        <p:txBody>
          <a:bodyPr wrap="square" lIns="0" tIns="0" rIns="0" bIns="0" rtlCol="0" anchor="ctr"/>
          <a:lstStyle/>
          <a:p>
            <a:pPr indent="0" marL="0">
              <a:buNone/>
            </a:pPr>
            <a:r>
              <a:rPr lang="en-US" sz="1600" b="1" dirty="0">
                <a:solidFill>
                  <a:srgbClr val="1E293B"/>
                </a:solidFill>
                <a:latin typeface="Georgia" pitchFamily="34" charset="0"/>
                <a:ea typeface="Georgia" pitchFamily="34" charset="-122"/>
                <a:cs typeface="Georgia" pitchFamily="34" charset="-120"/>
              </a:rPr>
              <a:t>Free up time for projects, new skills, and creativity</a:t>
            </a:r>
            <a:endParaRPr lang="en-US" sz="1600" dirty="0"/>
          </a:p>
        </p:txBody>
      </p:sp>
      <p:sp>
        <p:nvSpPr>
          <p:cNvPr id="21" name="Text 16"/>
          <p:cNvSpPr/>
          <p:nvPr/>
        </p:nvSpPr>
        <p:spPr>
          <a:xfrm>
            <a:off x="1463040" y="3931920"/>
            <a:ext cx="7040880" cy="4114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Hours saved are not just margin. They are the room where new services and new hires get developed.</a:t>
            </a:r>
            <a:endParaRPr lang="en-US" sz="1100" dirty="0"/>
          </a:p>
        </p:txBody>
      </p:sp>
      <p:sp>
        <p:nvSpPr>
          <p:cNvPr id="22" name="Text 17"/>
          <p:cNvSpPr/>
          <p:nvPr/>
        </p:nvSpPr>
        <p:spPr>
          <a:xfrm>
            <a:off x="365760" y="4846320"/>
            <a:ext cx="3657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Part 3 · Summary &amp; discussion</a:t>
            </a:r>
            <a:endParaRPr lang="en-US" sz="900" dirty="0"/>
          </a:p>
        </p:txBody>
      </p:sp>
      <p:sp>
        <p:nvSpPr>
          <p:cNvPr id="23" name="Text 18"/>
          <p:cNvSpPr/>
          <p:nvPr/>
        </p:nvSpPr>
        <p:spPr>
          <a:xfrm>
            <a:off x="5120640" y="4846320"/>
            <a:ext cx="3108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dbHMS  ·  Nathan Raab</a:t>
            </a:r>
            <a:endParaRPr lang="en-US" sz="900" dirty="0"/>
          </a:p>
        </p:txBody>
      </p:sp>
      <p:sp>
        <p:nvSpPr>
          <p:cNvPr id="24" name="Text 19"/>
          <p:cNvSpPr/>
          <p:nvPr/>
        </p:nvSpPr>
        <p:spPr>
          <a:xfrm>
            <a:off x="8412480" y="4846320"/>
            <a:ext cx="54864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16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640080"/>
          </a:xfrm>
          <a:prstGeom prst="rect">
            <a:avLst/>
          </a:prstGeom>
          <a:noFill/>
          <a:ln/>
        </p:spPr>
        <p:txBody>
          <a:bodyPr wrap="square" lIns="0" tIns="0" rIns="0" bIns="0" rtlCol="0" anchor="ctr"/>
          <a:lstStyle/>
          <a:p>
            <a:pPr indent="0" marL="0">
              <a:buNone/>
            </a:pPr>
            <a:r>
              <a:rPr lang="en-US" sz="3000" b="1" dirty="0">
                <a:solidFill>
                  <a:srgbClr val="1E293B"/>
                </a:solidFill>
                <a:latin typeface="Georgia" pitchFamily="34" charset="0"/>
                <a:ea typeface="Georgia" pitchFamily="34" charset="-122"/>
                <a:cs typeface="Georgia" pitchFamily="34" charset="-120"/>
              </a:rPr>
              <a:t>Real risks, not hypothetical ones</a:t>
            </a:r>
            <a:endParaRPr lang="en-US" sz="3000" dirty="0"/>
          </a:p>
        </p:txBody>
      </p:sp>
      <p:sp>
        <p:nvSpPr>
          <p:cNvPr id="3" name="Text 1"/>
          <p:cNvSpPr/>
          <p:nvPr/>
        </p:nvSpPr>
        <p:spPr>
          <a:xfrm>
            <a:off x="548640" y="960120"/>
            <a:ext cx="8229600" cy="3200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If we don't manage these, the productivity gain becomes technical debt.</a:t>
            </a:r>
            <a:endParaRPr lang="en-US" sz="1200" dirty="0"/>
          </a:p>
        </p:txBody>
      </p:sp>
      <p:sp>
        <p:nvSpPr>
          <p:cNvPr id="4" name="Shape 2"/>
          <p:cNvSpPr/>
          <p:nvPr/>
        </p:nvSpPr>
        <p:spPr>
          <a:xfrm>
            <a:off x="457200" y="1554480"/>
            <a:ext cx="2697480" cy="3108960"/>
          </a:xfrm>
          <a:prstGeom prst="rect">
            <a:avLst/>
          </a:prstGeom>
          <a:solidFill>
            <a:srgbClr val="FFFFFF"/>
          </a:solidFill>
          <a:ln w="12700">
            <a:solidFill>
              <a:srgbClr val="E2E8F0"/>
            </a:solidFill>
            <a:prstDash val="solid"/>
          </a:ln>
          <a:effectLst>
            <a:outerShdw sx="100000" sy="100000" kx="0" ky="0" algn="bl" rotWithShape="0" blurRad="76200" dist="12700" dir="5400000">
              <a:srgbClr val="000000">
                <a:alpha val="6000"/>
              </a:srgbClr>
            </a:outerShdw>
          </a:effectLst>
        </p:spPr>
      </p:sp>
      <p:sp>
        <p:nvSpPr>
          <p:cNvPr id="5" name="Shape 3"/>
          <p:cNvSpPr/>
          <p:nvPr/>
        </p:nvSpPr>
        <p:spPr>
          <a:xfrm>
            <a:off x="457200" y="1554480"/>
            <a:ext cx="2697480" cy="73152"/>
          </a:xfrm>
          <a:prstGeom prst="rect">
            <a:avLst/>
          </a:prstGeom>
          <a:solidFill>
            <a:srgbClr val="B91C1C"/>
          </a:solidFill>
          <a:ln w="12700">
            <a:solidFill>
              <a:srgbClr val="B91C1C"/>
            </a:solidFill>
            <a:prstDash val="solid"/>
          </a:ln>
        </p:spPr>
      </p:sp>
      <p:sp>
        <p:nvSpPr>
          <p:cNvPr id="6" name="Shape 4"/>
          <p:cNvSpPr/>
          <p:nvPr/>
        </p:nvSpPr>
        <p:spPr>
          <a:xfrm>
            <a:off x="1485900" y="1783080"/>
            <a:ext cx="640080" cy="640080"/>
          </a:xfrm>
          <a:prstGeom prst="ellipse">
            <a:avLst/>
          </a:prstGeom>
          <a:solidFill>
            <a:srgbClr val="FEE2E2"/>
          </a:solidFill>
          <a:ln w="12700">
            <a:solidFill>
              <a:srgbClr val="FEE2E2"/>
            </a:solidFill>
            <a:prstDash val="solid"/>
          </a:ln>
        </p:spPr>
      </p:sp>
      <p:pic>
        <p:nvPicPr>
          <p:cNvPr id="7" name="Image 0" descr="preencoded.png">    </p:cNvPr>
          <p:cNvPicPr>
            <a:picLocks noChangeAspect="1"/>
          </p:cNvPicPr>
          <p:nvPr/>
        </p:nvPicPr>
        <p:blipFill>
          <a:blip r:embed="rId1"/>
          <a:stretch>
            <a:fillRect/>
          </a:stretch>
        </p:blipFill>
        <p:spPr>
          <a:xfrm>
            <a:off x="1600200" y="1892808"/>
            <a:ext cx="411480" cy="411480"/>
          </a:xfrm>
          <a:prstGeom prst="rect">
            <a:avLst/>
          </a:prstGeom>
        </p:spPr>
      </p:pic>
      <p:sp>
        <p:nvSpPr>
          <p:cNvPr id="8" name="Text 5"/>
          <p:cNvSpPr/>
          <p:nvPr/>
        </p:nvSpPr>
        <p:spPr>
          <a:xfrm>
            <a:off x="640080" y="2560320"/>
            <a:ext cx="2331720" cy="411480"/>
          </a:xfrm>
          <a:prstGeom prst="rect">
            <a:avLst/>
          </a:prstGeom>
          <a:noFill/>
          <a:ln/>
        </p:spPr>
        <p:txBody>
          <a:bodyPr wrap="square" lIns="0" tIns="0" rIns="0" bIns="0" rtlCol="0" anchor="ctr"/>
          <a:lstStyle/>
          <a:p>
            <a:pPr algn="ctr" indent="0" marL="0">
              <a:buNone/>
            </a:pPr>
            <a:r>
              <a:rPr lang="en-US" sz="1800" b="1" dirty="0">
                <a:solidFill>
                  <a:srgbClr val="1E293B"/>
                </a:solidFill>
                <a:latin typeface="Georgia" pitchFamily="34" charset="0"/>
                <a:ea typeface="Georgia" pitchFamily="34" charset="-122"/>
                <a:cs typeface="Georgia" pitchFamily="34" charset="-120"/>
              </a:rPr>
              <a:t>Tool anarchy</a:t>
            </a:r>
            <a:endParaRPr lang="en-US" sz="1800" dirty="0"/>
          </a:p>
        </p:txBody>
      </p:sp>
      <p:sp>
        <p:nvSpPr>
          <p:cNvPr id="9" name="Text 6"/>
          <p:cNvSpPr/>
          <p:nvPr/>
        </p:nvSpPr>
        <p:spPr>
          <a:xfrm>
            <a:off x="640080" y="3017520"/>
            <a:ext cx="2331720" cy="1463040"/>
          </a:xfrm>
          <a:prstGeom prst="rect">
            <a:avLst/>
          </a:prstGeom>
          <a:noFill/>
          <a:ln/>
        </p:spPr>
        <p:txBody>
          <a:bodyPr wrap="square" lIns="0" tIns="0" rIns="0" bIns="0" rtlCol="0" anchor="t"/>
          <a:lstStyle/>
          <a:p>
            <a:pPr algn="l" indent="0" marL="0">
              <a:buNone/>
            </a:pPr>
            <a:r>
              <a:rPr lang="en-US" sz="1100" dirty="0">
                <a:solidFill>
                  <a:srgbClr val="334155"/>
                </a:solidFill>
                <a:latin typeface="Calibri" pitchFamily="34" charset="0"/>
                <a:ea typeface="Calibri" pitchFamily="34" charset="-122"/>
                <a:cs typeface="Calibri" pitchFamily="34" charset="-120"/>
              </a:rPr>
              <a:t>Duplication, divergent look-and-feel, overlapping tools. The team that solved a problem on Tuesday doesn't know the team that solved it on Wednesday.</a:t>
            </a:r>
            <a:endParaRPr lang="en-US" sz="1100" dirty="0"/>
          </a:p>
        </p:txBody>
      </p:sp>
      <p:sp>
        <p:nvSpPr>
          <p:cNvPr id="10" name="Shape 7"/>
          <p:cNvSpPr/>
          <p:nvPr/>
        </p:nvSpPr>
        <p:spPr>
          <a:xfrm>
            <a:off x="3246120" y="1554480"/>
            <a:ext cx="2697480" cy="3108960"/>
          </a:xfrm>
          <a:prstGeom prst="rect">
            <a:avLst/>
          </a:prstGeom>
          <a:solidFill>
            <a:srgbClr val="FFFFFF"/>
          </a:solidFill>
          <a:ln w="12700">
            <a:solidFill>
              <a:srgbClr val="E2E8F0"/>
            </a:solidFill>
            <a:prstDash val="solid"/>
          </a:ln>
          <a:effectLst>
            <a:outerShdw sx="100000" sy="100000" kx="0" ky="0" algn="bl" rotWithShape="0" blurRad="76200" dist="12700" dir="5400000">
              <a:srgbClr val="000000">
                <a:alpha val="6000"/>
              </a:srgbClr>
            </a:outerShdw>
          </a:effectLst>
        </p:spPr>
      </p:sp>
      <p:sp>
        <p:nvSpPr>
          <p:cNvPr id="11" name="Shape 8"/>
          <p:cNvSpPr/>
          <p:nvPr/>
        </p:nvSpPr>
        <p:spPr>
          <a:xfrm>
            <a:off x="3246120" y="1554480"/>
            <a:ext cx="2697480" cy="73152"/>
          </a:xfrm>
          <a:prstGeom prst="rect">
            <a:avLst/>
          </a:prstGeom>
          <a:solidFill>
            <a:srgbClr val="B91C1C"/>
          </a:solidFill>
          <a:ln w="12700">
            <a:solidFill>
              <a:srgbClr val="B91C1C"/>
            </a:solidFill>
            <a:prstDash val="solid"/>
          </a:ln>
        </p:spPr>
      </p:sp>
      <p:sp>
        <p:nvSpPr>
          <p:cNvPr id="12" name="Shape 9"/>
          <p:cNvSpPr/>
          <p:nvPr/>
        </p:nvSpPr>
        <p:spPr>
          <a:xfrm>
            <a:off x="4274820" y="1783080"/>
            <a:ext cx="640080" cy="640080"/>
          </a:xfrm>
          <a:prstGeom prst="ellipse">
            <a:avLst/>
          </a:prstGeom>
          <a:solidFill>
            <a:srgbClr val="FEE2E2"/>
          </a:solidFill>
          <a:ln w="12700">
            <a:solidFill>
              <a:srgbClr val="FEE2E2"/>
            </a:solidFill>
            <a:prstDash val="solid"/>
          </a:ln>
        </p:spPr>
      </p:sp>
      <p:pic>
        <p:nvPicPr>
          <p:cNvPr id="13" name="Image 1" descr="preencoded.png">    </p:cNvPr>
          <p:cNvPicPr>
            <a:picLocks noChangeAspect="1"/>
          </p:cNvPicPr>
          <p:nvPr/>
        </p:nvPicPr>
        <p:blipFill>
          <a:blip r:embed="rId2"/>
          <a:stretch>
            <a:fillRect/>
          </a:stretch>
        </p:blipFill>
        <p:spPr>
          <a:xfrm>
            <a:off x="4389120" y="1892808"/>
            <a:ext cx="411480" cy="411480"/>
          </a:xfrm>
          <a:prstGeom prst="rect">
            <a:avLst/>
          </a:prstGeom>
        </p:spPr>
      </p:pic>
      <p:sp>
        <p:nvSpPr>
          <p:cNvPr id="14" name="Text 10"/>
          <p:cNvSpPr/>
          <p:nvPr/>
        </p:nvSpPr>
        <p:spPr>
          <a:xfrm>
            <a:off x="3429000" y="2560320"/>
            <a:ext cx="2331720" cy="411480"/>
          </a:xfrm>
          <a:prstGeom prst="rect">
            <a:avLst/>
          </a:prstGeom>
          <a:noFill/>
          <a:ln/>
        </p:spPr>
        <p:txBody>
          <a:bodyPr wrap="square" lIns="0" tIns="0" rIns="0" bIns="0" rtlCol="0" anchor="ctr"/>
          <a:lstStyle/>
          <a:p>
            <a:pPr algn="ctr" indent="0" marL="0">
              <a:buNone/>
            </a:pPr>
            <a:r>
              <a:rPr lang="en-US" sz="1800" b="1" dirty="0">
                <a:solidFill>
                  <a:srgbClr val="1E293B"/>
                </a:solidFill>
                <a:latin typeface="Georgia" pitchFamily="34" charset="0"/>
                <a:ea typeface="Georgia" pitchFamily="34" charset="-122"/>
                <a:cs typeface="Georgia" pitchFamily="34" charset="-120"/>
              </a:rPr>
              <a:t>Black-box code</a:t>
            </a:r>
            <a:endParaRPr lang="en-US" sz="1800" dirty="0"/>
          </a:p>
        </p:txBody>
      </p:sp>
      <p:sp>
        <p:nvSpPr>
          <p:cNvPr id="15" name="Text 11"/>
          <p:cNvSpPr/>
          <p:nvPr/>
        </p:nvSpPr>
        <p:spPr>
          <a:xfrm>
            <a:off x="3429000" y="3017520"/>
            <a:ext cx="2331720" cy="1463040"/>
          </a:xfrm>
          <a:prstGeom prst="rect">
            <a:avLst/>
          </a:prstGeom>
          <a:noFill/>
          <a:ln/>
        </p:spPr>
        <p:txBody>
          <a:bodyPr wrap="square" lIns="0" tIns="0" rIns="0" bIns="0" rtlCol="0" anchor="t"/>
          <a:lstStyle/>
          <a:p>
            <a:pPr algn="l" indent="0" marL="0">
              <a:buNone/>
            </a:pPr>
            <a:r>
              <a:rPr lang="en-US" sz="1100" dirty="0">
                <a:solidFill>
                  <a:srgbClr val="334155"/>
                </a:solidFill>
                <a:latin typeface="Calibri" pitchFamily="34" charset="0"/>
                <a:ea typeface="Calibri" pitchFamily="34" charset="-122"/>
                <a:cs typeface="Calibri" pitchFamily="34" charset="-120"/>
              </a:rPr>
              <a:t>AI can write more code than its author can fully read. When something breaks, nobody on staff knows where to look.</a:t>
            </a:r>
            <a:endParaRPr lang="en-US" sz="1100" dirty="0"/>
          </a:p>
        </p:txBody>
      </p:sp>
      <p:sp>
        <p:nvSpPr>
          <p:cNvPr id="16" name="Shape 12"/>
          <p:cNvSpPr/>
          <p:nvPr/>
        </p:nvSpPr>
        <p:spPr>
          <a:xfrm>
            <a:off x="6035040" y="1554480"/>
            <a:ext cx="2697480" cy="3108960"/>
          </a:xfrm>
          <a:prstGeom prst="rect">
            <a:avLst/>
          </a:prstGeom>
          <a:solidFill>
            <a:srgbClr val="FFFFFF"/>
          </a:solidFill>
          <a:ln w="12700">
            <a:solidFill>
              <a:srgbClr val="E2E8F0"/>
            </a:solidFill>
            <a:prstDash val="solid"/>
          </a:ln>
          <a:effectLst>
            <a:outerShdw sx="100000" sy="100000" kx="0" ky="0" algn="bl" rotWithShape="0" blurRad="76200" dist="12700" dir="5400000">
              <a:srgbClr val="000000">
                <a:alpha val="6000"/>
              </a:srgbClr>
            </a:outerShdw>
          </a:effectLst>
        </p:spPr>
      </p:sp>
      <p:sp>
        <p:nvSpPr>
          <p:cNvPr id="17" name="Shape 13"/>
          <p:cNvSpPr/>
          <p:nvPr/>
        </p:nvSpPr>
        <p:spPr>
          <a:xfrm>
            <a:off x="6035040" y="1554480"/>
            <a:ext cx="2697480" cy="73152"/>
          </a:xfrm>
          <a:prstGeom prst="rect">
            <a:avLst/>
          </a:prstGeom>
          <a:solidFill>
            <a:srgbClr val="B91C1C"/>
          </a:solidFill>
          <a:ln w="12700">
            <a:solidFill>
              <a:srgbClr val="B91C1C"/>
            </a:solidFill>
            <a:prstDash val="solid"/>
          </a:ln>
        </p:spPr>
      </p:sp>
      <p:sp>
        <p:nvSpPr>
          <p:cNvPr id="18" name="Shape 14"/>
          <p:cNvSpPr/>
          <p:nvPr/>
        </p:nvSpPr>
        <p:spPr>
          <a:xfrm>
            <a:off x="7063740" y="1783080"/>
            <a:ext cx="640080" cy="640080"/>
          </a:xfrm>
          <a:prstGeom prst="ellipse">
            <a:avLst/>
          </a:prstGeom>
          <a:solidFill>
            <a:srgbClr val="FEE2E2"/>
          </a:solidFill>
          <a:ln w="12700">
            <a:solidFill>
              <a:srgbClr val="FEE2E2"/>
            </a:solidFill>
            <a:prstDash val="solid"/>
          </a:ln>
        </p:spPr>
      </p:sp>
      <p:pic>
        <p:nvPicPr>
          <p:cNvPr id="19" name="Image 2" descr="preencoded.png">    </p:cNvPr>
          <p:cNvPicPr>
            <a:picLocks noChangeAspect="1"/>
          </p:cNvPicPr>
          <p:nvPr/>
        </p:nvPicPr>
        <p:blipFill>
          <a:blip r:embed="rId3"/>
          <a:stretch>
            <a:fillRect/>
          </a:stretch>
        </p:blipFill>
        <p:spPr>
          <a:xfrm>
            <a:off x="7178040" y="1892808"/>
            <a:ext cx="411480" cy="411480"/>
          </a:xfrm>
          <a:prstGeom prst="rect">
            <a:avLst/>
          </a:prstGeom>
        </p:spPr>
      </p:pic>
      <p:sp>
        <p:nvSpPr>
          <p:cNvPr id="20" name="Text 15"/>
          <p:cNvSpPr/>
          <p:nvPr/>
        </p:nvSpPr>
        <p:spPr>
          <a:xfrm>
            <a:off x="6217920" y="2560320"/>
            <a:ext cx="2331720" cy="411480"/>
          </a:xfrm>
          <a:prstGeom prst="rect">
            <a:avLst/>
          </a:prstGeom>
          <a:noFill/>
          <a:ln/>
        </p:spPr>
        <p:txBody>
          <a:bodyPr wrap="square" lIns="0" tIns="0" rIns="0" bIns="0" rtlCol="0" anchor="ctr"/>
          <a:lstStyle/>
          <a:p>
            <a:pPr algn="ctr" indent="0" marL="0">
              <a:buNone/>
            </a:pPr>
            <a:r>
              <a:rPr lang="en-US" sz="1800" b="1" dirty="0">
                <a:solidFill>
                  <a:srgbClr val="1E293B"/>
                </a:solidFill>
                <a:latin typeface="Georgia" pitchFamily="34" charset="0"/>
                <a:ea typeface="Georgia" pitchFamily="34" charset="-122"/>
                <a:cs typeface="Georgia" pitchFamily="34" charset="-120"/>
              </a:rPr>
              <a:t>Hallucinations</a:t>
            </a:r>
            <a:endParaRPr lang="en-US" sz="1800" dirty="0"/>
          </a:p>
        </p:txBody>
      </p:sp>
      <p:sp>
        <p:nvSpPr>
          <p:cNvPr id="21" name="Text 16"/>
          <p:cNvSpPr/>
          <p:nvPr/>
        </p:nvSpPr>
        <p:spPr>
          <a:xfrm>
            <a:off x="6217920" y="3017520"/>
            <a:ext cx="2331720" cy="1463040"/>
          </a:xfrm>
          <a:prstGeom prst="rect">
            <a:avLst/>
          </a:prstGeom>
          <a:noFill/>
          <a:ln/>
        </p:spPr>
        <p:txBody>
          <a:bodyPr wrap="square" lIns="0" tIns="0" rIns="0" bIns="0" rtlCol="0" anchor="t"/>
          <a:lstStyle/>
          <a:p>
            <a:pPr algn="l" indent="0" marL="0">
              <a:buNone/>
            </a:pPr>
            <a:r>
              <a:rPr lang="en-US" sz="1100" dirty="0">
                <a:solidFill>
                  <a:srgbClr val="334155"/>
                </a:solidFill>
                <a:latin typeface="Calibri" pitchFamily="34" charset="0"/>
                <a:ea typeface="Calibri" pitchFamily="34" charset="-122"/>
                <a:cs typeface="Calibri" pitchFamily="34" charset="-120"/>
              </a:rPr>
              <a:t>AI sometimes invents API calls or makes plausible-but-wrong edits. Without testing, that ships.</a:t>
            </a:r>
            <a:endParaRPr lang="en-US" sz="1100" dirty="0"/>
          </a:p>
        </p:txBody>
      </p:sp>
      <p:sp>
        <p:nvSpPr>
          <p:cNvPr id="22" name="Text 17"/>
          <p:cNvSpPr/>
          <p:nvPr/>
        </p:nvSpPr>
        <p:spPr>
          <a:xfrm>
            <a:off x="365760" y="4846320"/>
            <a:ext cx="3657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Part 3 · Summary &amp; discussion</a:t>
            </a:r>
            <a:endParaRPr lang="en-US" sz="900" dirty="0"/>
          </a:p>
        </p:txBody>
      </p:sp>
      <p:sp>
        <p:nvSpPr>
          <p:cNvPr id="23" name="Text 18"/>
          <p:cNvSpPr/>
          <p:nvPr/>
        </p:nvSpPr>
        <p:spPr>
          <a:xfrm>
            <a:off x="5120640" y="4846320"/>
            <a:ext cx="3108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dbHMS  ·  Nathan Raab</a:t>
            </a:r>
            <a:endParaRPr lang="en-US" sz="900" dirty="0"/>
          </a:p>
        </p:txBody>
      </p:sp>
      <p:sp>
        <p:nvSpPr>
          <p:cNvPr id="24" name="Text 19"/>
          <p:cNvSpPr/>
          <p:nvPr/>
        </p:nvSpPr>
        <p:spPr>
          <a:xfrm>
            <a:off x="8412480" y="4846320"/>
            <a:ext cx="54864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17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20040"/>
            <a:ext cx="8229600" cy="594360"/>
          </a:xfrm>
          <a:prstGeom prst="rect">
            <a:avLst/>
          </a:prstGeom>
          <a:noFill/>
          <a:ln/>
        </p:spPr>
        <p:txBody>
          <a:bodyPr wrap="square" lIns="0" tIns="0" rIns="0" bIns="0" rtlCol="0" anchor="ctr"/>
          <a:lstStyle/>
          <a:p>
            <a:pPr indent="0" marL="0">
              <a:buNone/>
            </a:pPr>
            <a:r>
              <a:rPr lang="en-US" sz="3000" b="1" dirty="0">
                <a:solidFill>
                  <a:srgbClr val="1E293B"/>
                </a:solidFill>
                <a:latin typeface="Georgia" pitchFamily="34" charset="0"/>
                <a:ea typeface="Georgia" pitchFamily="34" charset="-122"/>
                <a:cs typeface="Georgia" pitchFamily="34" charset="-120"/>
              </a:rPr>
              <a:t>What we should do next</a:t>
            </a:r>
            <a:endParaRPr lang="en-US" sz="3000" dirty="0"/>
          </a:p>
        </p:txBody>
      </p:sp>
      <p:sp>
        <p:nvSpPr>
          <p:cNvPr id="3" name="Text 1"/>
          <p:cNvSpPr/>
          <p:nvPr/>
        </p:nvSpPr>
        <p:spPr>
          <a:xfrm>
            <a:off x="548640" y="868680"/>
            <a:ext cx="8229600" cy="3200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Capture the gains now. Manage the risks before they capture us.</a:t>
            </a:r>
            <a:endParaRPr lang="en-US" sz="1200" dirty="0"/>
          </a:p>
        </p:txBody>
      </p:sp>
      <p:sp>
        <p:nvSpPr>
          <p:cNvPr id="4" name="Shape 2"/>
          <p:cNvSpPr/>
          <p:nvPr/>
        </p:nvSpPr>
        <p:spPr>
          <a:xfrm>
            <a:off x="457200" y="1371600"/>
            <a:ext cx="4023360" cy="3154680"/>
          </a:xfrm>
          <a:prstGeom prst="rect">
            <a:avLst/>
          </a:prstGeom>
          <a:solidFill>
            <a:srgbClr val="FFFFFF"/>
          </a:solidFill>
          <a:ln w="12700">
            <a:solidFill>
              <a:srgbClr val="E2E8F0"/>
            </a:solidFill>
            <a:prstDash val="solid"/>
          </a:ln>
        </p:spPr>
      </p:sp>
      <p:sp>
        <p:nvSpPr>
          <p:cNvPr id="5" name="Shape 3"/>
          <p:cNvSpPr/>
          <p:nvPr/>
        </p:nvSpPr>
        <p:spPr>
          <a:xfrm>
            <a:off x="457200" y="1371600"/>
            <a:ext cx="4023360" cy="457200"/>
          </a:xfrm>
          <a:prstGeom prst="rect">
            <a:avLst/>
          </a:prstGeom>
          <a:solidFill>
            <a:srgbClr val="0D9488"/>
          </a:solidFill>
          <a:ln w="12700">
            <a:solidFill>
              <a:srgbClr val="0D9488"/>
            </a:solidFill>
            <a:prstDash val="solid"/>
          </a:ln>
        </p:spPr>
      </p:sp>
      <p:sp>
        <p:nvSpPr>
          <p:cNvPr id="6" name="Text 4"/>
          <p:cNvSpPr/>
          <p:nvPr/>
        </p:nvSpPr>
        <p:spPr>
          <a:xfrm>
            <a:off x="640080" y="1371600"/>
            <a:ext cx="3749040" cy="457200"/>
          </a:xfrm>
          <a:prstGeom prst="rect">
            <a:avLst/>
          </a:prstGeom>
          <a:noFill/>
          <a:ln/>
        </p:spPr>
        <p:txBody>
          <a:bodyPr wrap="square" lIns="0" tIns="0" rIns="0" bIns="0" rtlCol="0" anchor="ctr"/>
          <a:lstStyle/>
          <a:p>
            <a:pPr indent="0" marL="0">
              <a:buNone/>
            </a:pPr>
            <a:r>
              <a:rPr lang="en-US" sz="1200" b="1" spc="300" kern="0" dirty="0">
                <a:solidFill>
                  <a:srgbClr val="FFFFFF"/>
                </a:solidFill>
                <a:latin typeface="Calibri" pitchFamily="34" charset="0"/>
                <a:ea typeface="Calibri" pitchFamily="34" charset="-122"/>
                <a:cs typeface="Calibri" pitchFamily="34" charset="-120"/>
              </a:rPr>
              <a:t>NEAR-TERM  ·  THIS QUARTER</a:t>
            </a:r>
            <a:endParaRPr lang="en-US" sz="1200" dirty="0"/>
          </a:p>
        </p:txBody>
      </p:sp>
      <p:pic>
        <p:nvPicPr>
          <p:cNvPr id="7" name="Image 0" descr="preencoded.png">    </p:cNvPr>
          <p:cNvPicPr>
            <a:picLocks noChangeAspect="1"/>
          </p:cNvPicPr>
          <p:nvPr/>
        </p:nvPicPr>
        <p:blipFill>
          <a:blip r:embed="rId1"/>
          <a:stretch>
            <a:fillRect/>
          </a:stretch>
        </p:blipFill>
        <p:spPr>
          <a:xfrm>
            <a:off x="640080" y="2066544"/>
            <a:ext cx="274320" cy="274320"/>
          </a:xfrm>
          <a:prstGeom prst="rect">
            <a:avLst/>
          </a:prstGeom>
        </p:spPr>
      </p:pic>
      <p:sp>
        <p:nvSpPr>
          <p:cNvPr id="8" name="Text 5"/>
          <p:cNvSpPr/>
          <p:nvPr/>
        </p:nvSpPr>
        <p:spPr>
          <a:xfrm>
            <a:off x="1005840" y="2011680"/>
            <a:ext cx="3383280" cy="274320"/>
          </a:xfrm>
          <a:prstGeom prst="rect">
            <a:avLst/>
          </a:prstGeom>
          <a:noFill/>
          <a:ln/>
        </p:spPr>
        <p:txBody>
          <a:bodyPr wrap="square" lIns="0" tIns="0" rIns="0" bIns="0" rtlCol="0" anchor="ctr"/>
          <a:lstStyle/>
          <a:p>
            <a:pPr indent="0" marL="0">
              <a:buNone/>
            </a:pPr>
            <a:r>
              <a:rPr lang="en-US" sz="1300" b="1" dirty="0">
                <a:solidFill>
                  <a:srgbClr val="1E293B"/>
                </a:solidFill>
                <a:latin typeface="Georgia" pitchFamily="34" charset="0"/>
                <a:ea typeface="Georgia" pitchFamily="34" charset="-122"/>
                <a:cs typeface="Georgia" pitchFamily="34" charset="-120"/>
              </a:rPr>
              <a:t>Prototype and experiment</a:t>
            </a:r>
            <a:endParaRPr lang="en-US" sz="1300" dirty="0"/>
          </a:p>
        </p:txBody>
      </p:sp>
      <p:sp>
        <p:nvSpPr>
          <p:cNvPr id="9" name="Text 6"/>
          <p:cNvSpPr/>
          <p:nvPr/>
        </p:nvSpPr>
        <p:spPr>
          <a:xfrm>
            <a:off x="1005840" y="2304288"/>
            <a:ext cx="3383280"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Encourage more engineers to build for their own pain points.</a:t>
            </a:r>
            <a:endParaRPr lang="en-US" sz="1000" dirty="0"/>
          </a:p>
        </p:txBody>
      </p:sp>
      <p:pic>
        <p:nvPicPr>
          <p:cNvPr id="10" name="Image 1" descr="preencoded.png">    </p:cNvPr>
          <p:cNvPicPr>
            <a:picLocks noChangeAspect="1"/>
          </p:cNvPicPr>
          <p:nvPr/>
        </p:nvPicPr>
        <p:blipFill>
          <a:blip r:embed="rId2"/>
          <a:stretch>
            <a:fillRect/>
          </a:stretch>
        </p:blipFill>
        <p:spPr>
          <a:xfrm>
            <a:off x="640080" y="2935224"/>
            <a:ext cx="274320" cy="274320"/>
          </a:xfrm>
          <a:prstGeom prst="rect">
            <a:avLst/>
          </a:prstGeom>
        </p:spPr>
      </p:pic>
      <p:sp>
        <p:nvSpPr>
          <p:cNvPr id="11" name="Text 7"/>
          <p:cNvSpPr/>
          <p:nvPr/>
        </p:nvSpPr>
        <p:spPr>
          <a:xfrm>
            <a:off x="1005840" y="2880360"/>
            <a:ext cx="3383280" cy="274320"/>
          </a:xfrm>
          <a:prstGeom prst="rect">
            <a:avLst/>
          </a:prstGeom>
          <a:noFill/>
          <a:ln/>
        </p:spPr>
        <p:txBody>
          <a:bodyPr wrap="square" lIns="0" tIns="0" rIns="0" bIns="0" rtlCol="0" anchor="ctr"/>
          <a:lstStyle/>
          <a:p>
            <a:pPr indent="0" marL="0">
              <a:buNone/>
            </a:pPr>
            <a:r>
              <a:rPr lang="en-US" sz="1300" b="1" dirty="0">
                <a:solidFill>
                  <a:srgbClr val="1E293B"/>
                </a:solidFill>
                <a:latin typeface="Georgia" pitchFamily="34" charset="0"/>
                <a:ea typeface="Georgia" pitchFamily="34" charset="-122"/>
                <a:cs typeface="Georgia" pitchFamily="34" charset="-120"/>
              </a:rPr>
              <a:t>Validate with real engineers</a:t>
            </a:r>
            <a:endParaRPr lang="en-US" sz="1300" dirty="0"/>
          </a:p>
        </p:txBody>
      </p:sp>
      <p:sp>
        <p:nvSpPr>
          <p:cNvPr id="12" name="Text 8"/>
          <p:cNvSpPr/>
          <p:nvPr/>
        </p:nvSpPr>
        <p:spPr>
          <a:xfrm>
            <a:off x="1005840" y="3172968"/>
            <a:ext cx="3383280"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Every tool gets a peer reviewer before it ships internally.</a:t>
            </a:r>
            <a:endParaRPr lang="en-US" sz="1000" dirty="0"/>
          </a:p>
        </p:txBody>
      </p:sp>
      <p:pic>
        <p:nvPicPr>
          <p:cNvPr id="13" name="Image 2" descr="preencoded.png">    </p:cNvPr>
          <p:cNvPicPr>
            <a:picLocks noChangeAspect="1"/>
          </p:cNvPicPr>
          <p:nvPr/>
        </p:nvPicPr>
        <p:blipFill>
          <a:blip r:embed="rId3"/>
          <a:stretch>
            <a:fillRect/>
          </a:stretch>
        </p:blipFill>
        <p:spPr>
          <a:xfrm>
            <a:off x="640080" y="3803904"/>
            <a:ext cx="274320" cy="274320"/>
          </a:xfrm>
          <a:prstGeom prst="rect">
            <a:avLst/>
          </a:prstGeom>
        </p:spPr>
      </p:pic>
      <p:sp>
        <p:nvSpPr>
          <p:cNvPr id="14" name="Text 9"/>
          <p:cNvSpPr/>
          <p:nvPr/>
        </p:nvSpPr>
        <p:spPr>
          <a:xfrm>
            <a:off x="1005840" y="3749040"/>
            <a:ext cx="3383280" cy="274320"/>
          </a:xfrm>
          <a:prstGeom prst="rect">
            <a:avLst/>
          </a:prstGeom>
          <a:noFill/>
          <a:ln/>
        </p:spPr>
        <p:txBody>
          <a:bodyPr wrap="square" lIns="0" tIns="0" rIns="0" bIns="0" rtlCol="0" anchor="ctr"/>
          <a:lstStyle/>
          <a:p>
            <a:pPr indent="0" marL="0">
              <a:buNone/>
            </a:pPr>
            <a:r>
              <a:rPr lang="en-US" sz="1300" b="1" dirty="0">
                <a:solidFill>
                  <a:srgbClr val="1E293B"/>
                </a:solidFill>
                <a:latin typeface="Georgia" pitchFamily="34" charset="0"/>
                <a:ea typeface="Georgia" pitchFamily="34" charset="-122"/>
                <a:cs typeface="Georgia" pitchFamily="34" charset="-120"/>
              </a:rPr>
              <a:t>Fund tokens and training</a:t>
            </a:r>
            <a:endParaRPr lang="en-US" sz="1300" dirty="0"/>
          </a:p>
        </p:txBody>
      </p:sp>
      <p:sp>
        <p:nvSpPr>
          <p:cNvPr id="15" name="Text 10"/>
          <p:cNvSpPr/>
          <p:nvPr/>
        </p:nvSpPr>
        <p:spPr>
          <a:xfrm>
            <a:off x="1005840" y="4041648"/>
            <a:ext cx="3383280" cy="45720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AI access and a few hours of guided time pays for itself in days.</a:t>
            </a:r>
            <a:endParaRPr lang="en-US" sz="1000" dirty="0"/>
          </a:p>
        </p:txBody>
      </p:sp>
      <p:sp>
        <p:nvSpPr>
          <p:cNvPr id="16" name="Shape 11"/>
          <p:cNvSpPr/>
          <p:nvPr/>
        </p:nvSpPr>
        <p:spPr>
          <a:xfrm>
            <a:off x="4663440" y="1371600"/>
            <a:ext cx="4023360" cy="3154680"/>
          </a:xfrm>
          <a:prstGeom prst="rect">
            <a:avLst/>
          </a:prstGeom>
          <a:solidFill>
            <a:srgbClr val="FFFFFF"/>
          </a:solidFill>
          <a:ln w="12700">
            <a:solidFill>
              <a:srgbClr val="E2E8F0"/>
            </a:solidFill>
            <a:prstDash val="solid"/>
          </a:ln>
        </p:spPr>
      </p:sp>
      <p:sp>
        <p:nvSpPr>
          <p:cNvPr id="17" name="Shape 12"/>
          <p:cNvSpPr/>
          <p:nvPr/>
        </p:nvSpPr>
        <p:spPr>
          <a:xfrm>
            <a:off x="4663440" y="1371600"/>
            <a:ext cx="4023360" cy="457200"/>
          </a:xfrm>
          <a:prstGeom prst="rect">
            <a:avLst/>
          </a:prstGeom>
          <a:solidFill>
            <a:srgbClr val="1E293B"/>
          </a:solidFill>
          <a:ln w="12700">
            <a:solidFill>
              <a:srgbClr val="1E293B"/>
            </a:solidFill>
            <a:prstDash val="solid"/>
          </a:ln>
        </p:spPr>
      </p:sp>
      <p:sp>
        <p:nvSpPr>
          <p:cNvPr id="18" name="Text 13"/>
          <p:cNvSpPr/>
          <p:nvPr/>
        </p:nvSpPr>
        <p:spPr>
          <a:xfrm>
            <a:off x="4846320" y="1371600"/>
            <a:ext cx="3749040" cy="457200"/>
          </a:xfrm>
          <a:prstGeom prst="rect">
            <a:avLst/>
          </a:prstGeom>
          <a:noFill/>
          <a:ln/>
        </p:spPr>
        <p:txBody>
          <a:bodyPr wrap="square" lIns="0" tIns="0" rIns="0" bIns="0" rtlCol="0" anchor="ctr"/>
          <a:lstStyle/>
          <a:p>
            <a:pPr indent="0" marL="0">
              <a:buNone/>
            </a:pPr>
            <a:r>
              <a:rPr lang="en-US" sz="1200" b="1" spc="300" kern="0" dirty="0">
                <a:solidFill>
                  <a:srgbClr val="CCFBF1"/>
                </a:solidFill>
                <a:latin typeface="Calibri" pitchFamily="34" charset="0"/>
                <a:ea typeface="Calibri" pitchFamily="34" charset="-122"/>
                <a:cs typeface="Calibri" pitchFamily="34" charset="-120"/>
              </a:rPr>
              <a:t>FORWARD-LOOKING  ·  THIS YEAR</a:t>
            </a:r>
            <a:endParaRPr lang="en-US" sz="1200" dirty="0"/>
          </a:p>
        </p:txBody>
      </p:sp>
      <p:pic>
        <p:nvPicPr>
          <p:cNvPr id="19" name="Image 3" descr="preencoded.png">    </p:cNvPr>
          <p:cNvPicPr>
            <a:picLocks noChangeAspect="1"/>
          </p:cNvPicPr>
          <p:nvPr/>
        </p:nvPicPr>
        <p:blipFill>
          <a:blip r:embed="rId4"/>
          <a:stretch>
            <a:fillRect/>
          </a:stretch>
        </p:blipFill>
        <p:spPr>
          <a:xfrm>
            <a:off x="4846320" y="2066544"/>
            <a:ext cx="274320" cy="274320"/>
          </a:xfrm>
          <a:prstGeom prst="rect">
            <a:avLst/>
          </a:prstGeom>
        </p:spPr>
      </p:pic>
      <p:sp>
        <p:nvSpPr>
          <p:cNvPr id="20" name="Text 14"/>
          <p:cNvSpPr/>
          <p:nvPr/>
        </p:nvSpPr>
        <p:spPr>
          <a:xfrm>
            <a:off x="5212080" y="2011680"/>
            <a:ext cx="3383280" cy="274320"/>
          </a:xfrm>
          <a:prstGeom prst="rect">
            <a:avLst/>
          </a:prstGeom>
          <a:noFill/>
          <a:ln/>
        </p:spPr>
        <p:txBody>
          <a:bodyPr wrap="square" lIns="0" tIns="0" rIns="0" bIns="0" rtlCol="0" anchor="ctr"/>
          <a:lstStyle/>
          <a:p>
            <a:pPr indent="0" marL="0">
              <a:buNone/>
            </a:pPr>
            <a:r>
              <a:rPr lang="en-US" sz="1300" b="1" dirty="0">
                <a:solidFill>
                  <a:srgbClr val="1E293B"/>
                </a:solidFill>
                <a:latin typeface="Georgia" pitchFamily="34" charset="0"/>
                <a:ea typeface="Georgia" pitchFamily="34" charset="-122"/>
                <a:cs typeface="Georgia" pitchFamily="34" charset="-120"/>
              </a:rPr>
              <a:t>Tool strategy &amp; standards</a:t>
            </a:r>
            <a:endParaRPr lang="en-US" sz="1300" dirty="0"/>
          </a:p>
        </p:txBody>
      </p:sp>
      <p:sp>
        <p:nvSpPr>
          <p:cNvPr id="21" name="Text 15"/>
          <p:cNvSpPr/>
          <p:nvPr/>
        </p:nvSpPr>
        <p:spPr>
          <a:xfrm>
            <a:off x="5212080" y="2304288"/>
            <a:ext cx="3383280" cy="41148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Organization, look-and-feel, and a way to retire redundant tools.</a:t>
            </a:r>
            <a:endParaRPr lang="en-US" sz="1000" dirty="0"/>
          </a:p>
        </p:txBody>
      </p:sp>
      <p:pic>
        <p:nvPicPr>
          <p:cNvPr id="22" name="Image 4" descr="preencoded.png">    </p:cNvPr>
          <p:cNvPicPr>
            <a:picLocks noChangeAspect="1"/>
          </p:cNvPicPr>
          <p:nvPr/>
        </p:nvPicPr>
        <p:blipFill>
          <a:blip r:embed="rId5"/>
          <a:stretch>
            <a:fillRect/>
          </a:stretch>
        </p:blipFill>
        <p:spPr>
          <a:xfrm>
            <a:off x="4846320" y="2706624"/>
            <a:ext cx="274320" cy="274320"/>
          </a:xfrm>
          <a:prstGeom prst="rect">
            <a:avLst/>
          </a:prstGeom>
        </p:spPr>
      </p:pic>
      <p:sp>
        <p:nvSpPr>
          <p:cNvPr id="23" name="Text 16"/>
          <p:cNvSpPr/>
          <p:nvPr/>
        </p:nvSpPr>
        <p:spPr>
          <a:xfrm>
            <a:off x="5212080" y="2651760"/>
            <a:ext cx="3383280" cy="274320"/>
          </a:xfrm>
          <a:prstGeom prst="rect">
            <a:avLst/>
          </a:prstGeom>
          <a:noFill/>
          <a:ln/>
        </p:spPr>
        <p:txBody>
          <a:bodyPr wrap="square" lIns="0" tIns="0" rIns="0" bIns="0" rtlCol="0" anchor="ctr"/>
          <a:lstStyle/>
          <a:p>
            <a:pPr indent="0" marL="0">
              <a:buNone/>
            </a:pPr>
            <a:r>
              <a:rPr lang="en-US" sz="1300" b="1" dirty="0">
                <a:solidFill>
                  <a:srgbClr val="1E293B"/>
                </a:solidFill>
                <a:latin typeface="Georgia" pitchFamily="34" charset="0"/>
                <a:ea typeface="Georgia" pitchFamily="34" charset="-122"/>
                <a:cs typeface="Georgia" pitchFamily="34" charset="-120"/>
              </a:rPr>
              <a:t>Test &amp; release process</a:t>
            </a:r>
            <a:endParaRPr lang="en-US" sz="1300" dirty="0"/>
          </a:p>
        </p:txBody>
      </p:sp>
      <p:sp>
        <p:nvSpPr>
          <p:cNvPr id="24" name="Text 17"/>
          <p:cNvSpPr/>
          <p:nvPr/>
        </p:nvSpPr>
        <p:spPr>
          <a:xfrm>
            <a:off x="5212080" y="2944368"/>
            <a:ext cx="3383280" cy="41148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Rigorous review so we don't break tools that the team relies on.</a:t>
            </a:r>
            <a:endParaRPr lang="en-US" sz="1000" dirty="0"/>
          </a:p>
        </p:txBody>
      </p:sp>
      <p:pic>
        <p:nvPicPr>
          <p:cNvPr id="25" name="Image 5" descr="preencoded.png">    </p:cNvPr>
          <p:cNvPicPr>
            <a:picLocks noChangeAspect="1"/>
          </p:cNvPicPr>
          <p:nvPr/>
        </p:nvPicPr>
        <p:blipFill>
          <a:blip r:embed="rId6"/>
          <a:stretch>
            <a:fillRect/>
          </a:stretch>
        </p:blipFill>
        <p:spPr>
          <a:xfrm>
            <a:off x="4846320" y="3346704"/>
            <a:ext cx="274320" cy="274320"/>
          </a:xfrm>
          <a:prstGeom prst="rect">
            <a:avLst/>
          </a:prstGeom>
        </p:spPr>
      </p:pic>
      <p:sp>
        <p:nvSpPr>
          <p:cNvPr id="26" name="Text 18"/>
          <p:cNvSpPr/>
          <p:nvPr/>
        </p:nvSpPr>
        <p:spPr>
          <a:xfrm>
            <a:off x="5212080" y="3291840"/>
            <a:ext cx="3383280" cy="274320"/>
          </a:xfrm>
          <a:prstGeom prst="rect">
            <a:avLst/>
          </a:prstGeom>
          <a:noFill/>
          <a:ln/>
        </p:spPr>
        <p:txBody>
          <a:bodyPr wrap="square" lIns="0" tIns="0" rIns="0" bIns="0" rtlCol="0" anchor="ctr"/>
          <a:lstStyle/>
          <a:p>
            <a:pPr indent="0" marL="0">
              <a:buNone/>
            </a:pPr>
            <a:r>
              <a:rPr lang="en-US" sz="1300" b="1" dirty="0">
                <a:solidFill>
                  <a:srgbClr val="1E293B"/>
                </a:solidFill>
                <a:latin typeface="Georgia" pitchFamily="34" charset="0"/>
                <a:ea typeface="Georgia" pitchFamily="34" charset="-122"/>
                <a:cs typeface="Georgia" pitchFamily="34" charset="-120"/>
              </a:rPr>
              <a:t>Governance</a:t>
            </a:r>
            <a:endParaRPr lang="en-US" sz="1300" dirty="0"/>
          </a:p>
        </p:txBody>
      </p:sp>
      <p:sp>
        <p:nvSpPr>
          <p:cNvPr id="27" name="Text 19"/>
          <p:cNvSpPr/>
          <p:nvPr/>
        </p:nvSpPr>
        <p:spPr>
          <a:xfrm>
            <a:off x="5212080" y="3584448"/>
            <a:ext cx="3383280" cy="41148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Quality, consistency, usability, coverage — all owned by someone.</a:t>
            </a:r>
            <a:endParaRPr lang="en-US" sz="1000" dirty="0"/>
          </a:p>
        </p:txBody>
      </p:sp>
      <p:pic>
        <p:nvPicPr>
          <p:cNvPr id="28" name="Image 6" descr="preencoded.png">    </p:cNvPr>
          <p:cNvPicPr>
            <a:picLocks noChangeAspect="1"/>
          </p:cNvPicPr>
          <p:nvPr/>
        </p:nvPicPr>
        <p:blipFill>
          <a:blip r:embed="rId7"/>
          <a:stretch>
            <a:fillRect/>
          </a:stretch>
        </p:blipFill>
        <p:spPr>
          <a:xfrm>
            <a:off x="4846320" y="3986784"/>
            <a:ext cx="274320" cy="274320"/>
          </a:xfrm>
          <a:prstGeom prst="rect">
            <a:avLst/>
          </a:prstGeom>
        </p:spPr>
      </p:pic>
      <p:sp>
        <p:nvSpPr>
          <p:cNvPr id="29" name="Text 20"/>
          <p:cNvSpPr/>
          <p:nvPr/>
        </p:nvSpPr>
        <p:spPr>
          <a:xfrm>
            <a:off x="5212080" y="3931920"/>
            <a:ext cx="3383280" cy="274320"/>
          </a:xfrm>
          <a:prstGeom prst="rect">
            <a:avLst/>
          </a:prstGeom>
          <a:noFill/>
          <a:ln/>
        </p:spPr>
        <p:txBody>
          <a:bodyPr wrap="square" lIns="0" tIns="0" rIns="0" bIns="0" rtlCol="0" anchor="ctr"/>
          <a:lstStyle/>
          <a:p>
            <a:pPr indent="0" marL="0">
              <a:buNone/>
            </a:pPr>
            <a:r>
              <a:rPr lang="en-US" sz="1300" b="1" dirty="0">
                <a:solidFill>
                  <a:srgbClr val="1E293B"/>
                </a:solidFill>
                <a:latin typeface="Georgia" pitchFamily="34" charset="0"/>
                <a:ea typeface="Georgia" pitchFamily="34" charset="-122"/>
                <a:cs typeface="Georgia" pitchFamily="34" charset="-120"/>
              </a:rPr>
              <a:t>Expand beyond engineering</a:t>
            </a:r>
            <a:endParaRPr lang="en-US" sz="1300" dirty="0"/>
          </a:p>
        </p:txBody>
      </p:sp>
      <p:sp>
        <p:nvSpPr>
          <p:cNvPr id="30" name="Text 21"/>
          <p:cNvSpPr/>
          <p:nvPr/>
        </p:nvSpPr>
        <p:spPr>
          <a:xfrm>
            <a:off x="5212080" y="4224528"/>
            <a:ext cx="3383280" cy="41148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Bring the same approach to other roles in the firm.</a:t>
            </a:r>
            <a:endParaRPr lang="en-US" sz="1000" dirty="0"/>
          </a:p>
        </p:txBody>
      </p:sp>
      <p:sp>
        <p:nvSpPr>
          <p:cNvPr id="31" name="Text 22"/>
          <p:cNvSpPr/>
          <p:nvPr/>
        </p:nvSpPr>
        <p:spPr>
          <a:xfrm>
            <a:off x="365760" y="4846320"/>
            <a:ext cx="3657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Part 3 · Summary &amp; discussion</a:t>
            </a:r>
            <a:endParaRPr lang="en-US" sz="900" dirty="0"/>
          </a:p>
        </p:txBody>
      </p:sp>
      <p:sp>
        <p:nvSpPr>
          <p:cNvPr id="32" name="Text 23"/>
          <p:cNvSpPr/>
          <p:nvPr/>
        </p:nvSpPr>
        <p:spPr>
          <a:xfrm>
            <a:off x="5120640" y="4846320"/>
            <a:ext cx="3108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dbHMS  ·  Nathan Raab</a:t>
            </a:r>
            <a:endParaRPr lang="en-US" sz="900" dirty="0"/>
          </a:p>
        </p:txBody>
      </p:sp>
      <p:sp>
        <p:nvSpPr>
          <p:cNvPr id="33" name="Text 24"/>
          <p:cNvSpPr/>
          <p:nvPr/>
        </p:nvSpPr>
        <p:spPr>
          <a:xfrm>
            <a:off x="8412480" y="4846320"/>
            <a:ext cx="54864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18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AI-Developed Productivity Tools</dc:title>
  <dc:subject>PptxGenJS Presentation</dc:subject>
  <dc:creator>Nathan Raab</dc:creator>
  <cp:lastModifiedBy>Nathan Raab</cp:lastModifiedBy>
  <cp:revision>1</cp:revision>
  <dcterms:created xsi:type="dcterms:W3CDTF">2026-05-03T15:41:32Z</dcterms:created>
  <dcterms:modified xsi:type="dcterms:W3CDTF">2026-05-03T15:41:32Z</dcterms:modified>
</cp:coreProperties>
</file>